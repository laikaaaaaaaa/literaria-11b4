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bin"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 Id="rId4" Target="../media/image3.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gif" Type="http://schemas.openxmlformats.org/officeDocument/2006/relationships/image"/><Relationship Id="rId3" Target="../media/image5.gif"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7.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gif" Type="http://schemas.openxmlformats.org/officeDocument/2006/relationships/image"/><Relationship Id="rId3" Target="../media/image8.gi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gif" Type="http://schemas.openxmlformats.org/officeDocument/2006/relationships/image"/><Relationship Id="rId3" Target="../media/image9.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gif" Type="http://schemas.openxmlformats.org/officeDocument/2006/relationships/image"/><Relationship Id="rId3" Target="../media/image7.gif" Type="http://schemas.openxmlformats.org/officeDocument/2006/relationships/image"/><Relationship Id="rId4" Target="../media/image11.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gif" Type="http://schemas.openxmlformats.org/officeDocument/2006/relationships/image"/><Relationship Id="rId3"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gif" Type="http://schemas.openxmlformats.org/officeDocument/2006/relationships/image"/><Relationship Id="rId3" Target="../media/image1.gif" Type="http://schemas.openxmlformats.org/officeDocument/2006/relationships/image"/><Relationship Id="rId4" Target="../media/image8.gif" Type="http://schemas.openxmlformats.org/officeDocument/2006/relationships/image"/><Relationship Id="rId5" Target="../media/image16.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pink animated blob"/>
          <p:cNvPicPr>
            <a:picLocks noChangeAspect="true"/>
          </p:cNvPicPr>
          <p:nvPr/>
        </p:nvPicPr>
        <p:blipFill>
          <a:blip r:embed="rId2">
            <a:alphaModFix amt="25000"/>
          </a:blip>
          <a:srcRect l="0" t="0" r="0" b="0"/>
          <a:stretch>
            <a:fillRect/>
          </a:stretch>
        </p:blipFill>
        <p:spPr>
          <a:xfrm flipH="false" flipV="false" rot="-10800000">
            <a:off x="6333452" y="-1797179"/>
            <a:ext cx="15735219" cy="13881357"/>
          </a:xfrm>
          <a:prstGeom prst="rect">
            <a:avLst/>
          </a:prstGeom>
        </p:spPr>
      </p:pic>
      <p:grpSp>
        <p:nvGrpSpPr>
          <p:cNvPr name="Group 3" id="3"/>
          <p:cNvGrpSpPr/>
          <p:nvPr/>
        </p:nvGrpSpPr>
        <p:grpSpPr>
          <a:xfrm rot="0">
            <a:off x="3000871" y="4285028"/>
            <a:ext cx="12286259" cy="1711847"/>
            <a:chOff x="0" y="0"/>
            <a:chExt cx="16381678" cy="2282462"/>
          </a:xfrm>
        </p:grpSpPr>
        <p:sp>
          <p:nvSpPr>
            <p:cNvPr name="TextBox 4" id="4"/>
            <p:cNvSpPr txBox="true"/>
            <p:nvPr/>
          </p:nvSpPr>
          <p:spPr>
            <a:xfrm rot="0">
              <a:off x="0" y="66675"/>
              <a:ext cx="16381678" cy="1444625"/>
            </a:xfrm>
            <a:prstGeom prst="rect">
              <a:avLst/>
            </a:prstGeom>
          </p:spPr>
          <p:txBody>
            <a:bodyPr anchor="t" rtlCol="false" tIns="0" lIns="0" bIns="0" rIns="0">
              <a:spAutoFit/>
            </a:bodyPr>
            <a:lstStyle/>
            <a:p>
              <a:pPr algn="ctr">
                <a:lnSpc>
                  <a:spcPts val="8249"/>
                </a:lnSpc>
              </a:pPr>
              <a:r>
                <a:rPr lang="en-US" sz="7499">
                  <a:solidFill>
                    <a:srgbClr val="2B2B2B"/>
                  </a:solidFill>
                  <a:latin typeface="Cabin"/>
                  <a:ea typeface="Cabin"/>
                  <a:cs typeface="Cabin"/>
                  <a:sym typeface="Cabin"/>
                </a:rPr>
                <a:t>TẢO PHÁT BẠCH ĐẾ THÀNH</a:t>
              </a:r>
            </a:p>
          </p:txBody>
        </p:sp>
        <p:sp>
          <p:nvSpPr>
            <p:cNvPr name="TextBox 5" id="5"/>
            <p:cNvSpPr txBox="true"/>
            <p:nvPr/>
          </p:nvSpPr>
          <p:spPr>
            <a:xfrm rot="0">
              <a:off x="0" y="1768482"/>
              <a:ext cx="16381678" cy="513980"/>
            </a:xfrm>
            <a:prstGeom prst="rect">
              <a:avLst/>
            </a:prstGeom>
          </p:spPr>
          <p:txBody>
            <a:bodyPr anchor="t" rtlCol="false" tIns="0" lIns="0" bIns="0" rIns="0">
              <a:spAutoFit/>
            </a:bodyPr>
            <a:lstStyle/>
            <a:p>
              <a:pPr algn="ctr">
                <a:lnSpc>
                  <a:spcPts val="3296"/>
                </a:lnSpc>
                <a:spcBef>
                  <a:spcPct val="0"/>
                </a:spcBef>
              </a:pPr>
              <a:r>
                <a:rPr lang="en-US" sz="2354">
                  <a:solidFill>
                    <a:srgbClr val="2B2B2B"/>
                  </a:solidFill>
                  <a:latin typeface="Cabin"/>
                  <a:ea typeface="Cabin"/>
                  <a:cs typeface="Cabin"/>
                  <a:sym typeface="Cabin"/>
                </a:rPr>
                <a:t>Lý Bạc</a:t>
              </a:r>
              <a:r>
                <a:rPr lang="en-US" sz="2354">
                  <a:solidFill>
                    <a:srgbClr val="2B2B2B"/>
                  </a:solidFill>
                  <a:latin typeface="Cabin"/>
                  <a:ea typeface="Cabin"/>
                  <a:cs typeface="Cabin"/>
                  <a:sym typeface="Cabin"/>
                </a:rPr>
                <a:t>h – Ngữ Văn 11 (Chân Trời Sáng Tạo)</a:t>
              </a:r>
            </a:p>
          </p:txBody>
        </p:sp>
      </p:grpSp>
      <p:pic>
        <p:nvPicPr>
          <p:cNvPr name="Picture 6" id="6" descr="purple animated blob"/>
          <p:cNvPicPr>
            <a:picLocks noChangeAspect="true"/>
          </p:cNvPicPr>
          <p:nvPr/>
        </p:nvPicPr>
        <p:blipFill>
          <a:blip r:embed="rId3">
            <a:alphaModFix amt="50000"/>
          </a:blip>
          <a:srcRect l="0" t="0" r="0" b="0"/>
          <a:stretch>
            <a:fillRect/>
          </a:stretch>
        </p:blipFill>
        <p:spPr>
          <a:xfrm flipH="false" flipV="false" rot="0">
            <a:off x="-2318726" y="-376453"/>
            <a:ext cx="9743013" cy="1709948"/>
          </a:xfrm>
          <a:prstGeom prst="rect">
            <a:avLst/>
          </a:prstGeom>
        </p:spPr>
      </p:pic>
      <p:pic>
        <p:nvPicPr>
          <p:cNvPr name="Picture 7" id="7" descr="yellow outline animated blob"/>
          <p:cNvPicPr>
            <a:picLocks noChangeAspect="true"/>
          </p:cNvPicPr>
          <p:nvPr/>
        </p:nvPicPr>
        <p:blipFill>
          <a:blip r:embed="rId4">
            <a:alphaModFix amt="25000"/>
          </a:blip>
          <a:srcRect l="0" t="0" r="0" b="0"/>
          <a:stretch>
            <a:fillRect/>
          </a:stretch>
        </p:blipFill>
        <p:spPr>
          <a:xfrm flipH="false" flipV="false" rot="-7199120">
            <a:off x="-2896988" y="-1002021"/>
            <a:ext cx="5793977" cy="5895448"/>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green animated blob"/>
          <p:cNvPicPr>
            <a:picLocks noChangeAspect="true"/>
          </p:cNvPicPr>
          <p:nvPr/>
        </p:nvPicPr>
        <p:blipFill>
          <a:blip r:embed="rId2">
            <a:alphaModFix amt="25000"/>
          </a:blip>
          <a:srcRect l="0" t="0" r="0" b="0"/>
          <a:stretch>
            <a:fillRect/>
          </a:stretch>
        </p:blipFill>
        <p:spPr>
          <a:xfrm flipH="false" flipV="false" rot="3203220">
            <a:off x="10055853" y="-265970"/>
            <a:ext cx="11814494" cy="12461864"/>
          </a:xfrm>
          <a:prstGeom prst="rect">
            <a:avLst/>
          </a:prstGeom>
        </p:spPr>
      </p:pic>
      <p:pic>
        <p:nvPicPr>
          <p:cNvPr name="Picture 3" id="3" descr="green outline animated blob"/>
          <p:cNvPicPr>
            <a:picLocks noChangeAspect="true"/>
          </p:cNvPicPr>
          <p:nvPr/>
        </p:nvPicPr>
        <p:blipFill>
          <a:blip r:embed="rId3">
            <a:alphaModFix amt="25000"/>
          </a:blip>
          <a:srcRect l="0" t="0" r="0" b="0"/>
          <a:stretch>
            <a:fillRect/>
          </a:stretch>
        </p:blipFill>
        <p:spPr>
          <a:xfrm flipH="false" flipV="false" rot="-5741405">
            <a:off x="8316155" y="8504485"/>
            <a:ext cx="4865516" cy="6168780"/>
          </a:xfrm>
          <a:prstGeom prst="rect">
            <a:avLst/>
          </a:prstGeom>
        </p:spPr>
      </p:pic>
      <p:sp>
        <p:nvSpPr>
          <p:cNvPr name="Freeform 4" id="4"/>
          <p:cNvSpPr/>
          <p:nvPr/>
        </p:nvSpPr>
        <p:spPr>
          <a:xfrm flipH="false" flipV="false" rot="0">
            <a:off x="9585859" y="1311667"/>
            <a:ext cx="7081234" cy="7081234"/>
          </a:xfrm>
          <a:custGeom>
            <a:avLst/>
            <a:gdLst/>
            <a:ahLst/>
            <a:cxnLst/>
            <a:rect r="r" b="b" t="t" l="l"/>
            <a:pathLst>
              <a:path h="7081234" w="7081234">
                <a:moveTo>
                  <a:pt x="0" y="0"/>
                </a:moveTo>
                <a:lnTo>
                  <a:pt x="7081234" y="0"/>
                </a:lnTo>
                <a:lnTo>
                  <a:pt x="7081234" y="7081234"/>
                </a:lnTo>
                <a:lnTo>
                  <a:pt x="0" y="7081234"/>
                </a:lnTo>
                <a:lnTo>
                  <a:pt x="0" y="0"/>
                </a:lnTo>
                <a:close/>
              </a:path>
            </a:pathLst>
          </a:custGeom>
          <a:blipFill>
            <a:blip r:embed="rId4"/>
            <a:stretch>
              <a:fillRect l="0" t="0" r="0" b="0"/>
            </a:stretch>
          </a:blipFill>
        </p:spPr>
      </p:sp>
      <p:grpSp>
        <p:nvGrpSpPr>
          <p:cNvPr name="Group 5" id="5"/>
          <p:cNvGrpSpPr/>
          <p:nvPr/>
        </p:nvGrpSpPr>
        <p:grpSpPr>
          <a:xfrm rot="0">
            <a:off x="1414135" y="4234376"/>
            <a:ext cx="7729865" cy="1602530"/>
            <a:chOff x="0" y="0"/>
            <a:chExt cx="10306486" cy="2136706"/>
          </a:xfrm>
        </p:grpSpPr>
        <p:sp>
          <p:nvSpPr>
            <p:cNvPr name="TextBox 6" id="6"/>
            <p:cNvSpPr txBox="true"/>
            <p:nvPr/>
          </p:nvSpPr>
          <p:spPr>
            <a:xfrm rot="0">
              <a:off x="0" y="-9525"/>
              <a:ext cx="10306486" cy="1228725"/>
            </a:xfrm>
            <a:prstGeom prst="rect">
              <a:avLst/>
            </a:prstGeom>
          </p:spPr>
          <p:txBody>
            <a:bodyPr anchor="t" rtlCol="false" tIns="0" lIns="0" bIns="0" rIns="0">
              <a:spAutoFit/>
            </a:bodyPr>
            <a:lstStyle/>
            <a:p>
              <a:pPr algn="l" marL="0" indent="0" lvl="0">
                <a:lnSpc>
                  <a:spcPts val="7200"/>
                </a:lnSpc>
                <a:spcBef>
                  <a:spcPct val="0"/>
                </a:spcBef>
              </a:pPr>
              <a:r>
                <a:rPr lang="en-US" sz="6000">
                  <a:solidFill>
                    <a:srgbClr val="2B2B2B"/>
                  </a:solidFill>
                  <a:latin typeface="Cabin"/>
                  <a:ea typeface="Cabin"/>
                  <a:cs typeface="Cabin"/>
                  <a:sym typeface="Cabin"/>
                </a:rPr>
                <a:t>GIỚI THIỆU CHUNG</a:t>
              </a:r>
            </a:p>
          </p:txBody>
        </p:sp>
        <p:sp>
          <p:nvSpPr>
            <p:cNvPr name="TextBox 7" id="7"/>
            <p:cNvSpPr txBox="true"/>
            <p:nvPr/>
          </p:nvSpPr>
          <p:spPr>
            <a:xfrm rot="0">
              <a:off x="0" y="1599073"/>
              <a:ext cx="10306486" cy="537633"/>
            </a:xfrm>
            <a:prstGeom prst="rect">
              <a:avLst/>
            </a:prstGeom>
          </p:spPr>
          <p:txBody>
            <a:bodyPr anchor="t" rtlCol="false" tIns="0" lIns="0" bIns="0" rIns="0">
              <a:spAutoFit/>
            </a:bodyPr>
            <a:lstStyle/>
            <a:p>
              <a:pPr algn="l" marL="0" indent="0" lvl="0">
                <a:lnSpc>
                  <a:spcPts val="349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sp>
        <p:nvSpPr>
          <p:cNvPr name="TextBox 2" id="2"/>
          <p:cNvSpPr txBox="true"/>
          <p:nvPr/>
        </p:nvSpPr>
        <p:spPr>
          <a:xfrm rot="0">
            <a:off x="1706712" y="1933575"/>
            <a:ext cx="15661238" cy="6410325"/>
          </a:xfrm>
          <a:prstGeom prst="rect">
            <a:avLst/>
          </a:prstGeom>
        </p:spPr>
        <p:txBody>
          <a:bodyPr anchor="t" rtlCol="false" tIns="0" lIns="0" bIns="0" rIns="0">
            <a:spAutoFit/>
          </a:bodyPr>
          <a:lstStyle/>
          <a:p>
            <a:pPr algn="ctr" marL="0" indent="0" lvl="0">
              <a:lnSpc>
                <a:spcPts val="7200"/>
              </a:lnSpc>
              <a:spcBef>
                <a:spcPct val="0"/>
              </a:spcBef>
            </a:pPr>
            <a:r>
              <a:rPr lang="en-US" sz="6000">
                <a:solidFill>
                  <a:srgbClr val="2B2B2B"/>
                </a:solidFill>
                <a:latin typeface="Cabin"/>
                <a:ea typeface="Cabin"/>
                <a:cs typeface="Cabin"/>
                <a:sym typeface="Cabin"/>
              </a:rPr>
              <a:t>•• </a:t>
            </a:r>
            <a:r>
              <a:rPr lang="en-US" sz="6000" u="none">
                <a:solidFill>
                  <a:srgbClr val="2B2B2B"/>
                </a:solidFill>
                <a:latin typeface="Cabin"/>
                <a:ea typeface="Cabin"/>
                <a:cs typeface="Cabin"/>
                <a:sym typeface="Cabin"/>
              </a:rPr>
              <a:t>Tác giả: Lý Bạch (701–762) – nhà thơ lớn thời Đường (Trung Quốc).</a:t>
            </a:r>
          </a:p>
          <a:p>
            <a:pPr algn="ctr" marL="0" indent="0" lvl="0">
              <a:lnSpc>
                <a:spcPts val="7200"/>
              </a:lnSpc>
              <a:spcBef>
                <a:spcPct val="0"/>
              </a:spcBef>
            </a:pPr>
            <a:r>
              <a:rPr lang="en-US" sz="6000" u="none">
                <a:solidFill>
                  <a:srgbClr val="2B2B2B"/>
                </a:solidFill>
                <a:latin typeface="Cabin"/>
                <a:ea typeface="Cabin"/>
                <a:cs typeface="Cabin"/>
                <a:sym typeface="Cabin"/>
              </a:rPr>
              <a:t>–• Hoàn cảnh sáng tác: Viết khi được tha tội và rời Bạch Đế Thành.</a:t>
            </a:r>
          </a:p>
          <a:p>
            <a:pPr algn="ctr" marL="0" indent="0" lvl="0">
              <a:lnSpc>
                <a:spcPts val="7200"/>
              </a:lnSpc>
              <a:spcBef>
                <a:spcPct val="0"/>
              </a:spcBef>
            </a:pPr>
            <a:r>
              <a:rPr lang="en-US" sz="6000" u="none">
                <a:solidFill>
                  <a:srgbClr val="2B2B2B"/>
                </a:solidFill>
                <a:latin typeface="Cabin"/>
                <a:ea typeface="Cabin"/>
                <a:cs typeface="Cabin"/>
                <a:sym typeface="Cabin"/>
              </a:rPr>
              <a:t>–• Nội dung khái quát: Miêu tả cảnh thiên nhiên hùng vĩ và niềm vui phấn chấn của tác giả.</a:t>
            </a:r>
          </a:p>
          <a:p>
            <a:pPr algn="ctr" marL="0" indent="0" lvl="0">
              <a:lnSpc>
                <a:spcPts val="7200"/>
              </a:lnSpc>
              <a:spcBef>
                <a:spcPct val="0"/>
              </a:spcBef>
            </a:pPr>
          </a:p>
        </p:txBody>
      </p:sp>
      <p:pic>
        <p:nvPicPr>
          <p:cNvPr name="Picture 3" id="3" descr="yellow outline animated blob"/>
          <p:cNvPicPr>
            <a:picLocks noChangeAspect="true"/>
          </p:cNvPicPr>
          <p:nvPr/>
        </p:nvPicPr>
        <p:blipFill>
          <a:blip r:embed="rId2">
            <a:alphaModFix amt="25000"/>
          </a:blip>
          <a:srcRect l="0" t="0" r="0" b="0"/>
          <a:stretch>
            <a:fillRect/>
          </a:stretch>
        </p:blipFill>
        <p:spPr>
          <a:xfrm flipH="false" flipV="false" rot="0">
            <a:off x="-4810715" y="2950641"/>
            <a:ext cx="9621431" cy="9789932"/>
          </a:xfrm>
          <a:prstGeom prst="rect">
            <a:avLst/>
          </a:prstGeom>
        </p:spPr>
      </p:pic>
      <p:pic>
        <p:nvPicPr>
          <p:cNvPr name="Picture 4" id="4" descr="purple animated blob"/>
          <p:cNvPicPr>
            <a:picLocks noChangeAspect="true"/>
          </p:cNvPicPr>
          <p:nvPr/>
        </p:nvPicPr>
        <p:blipFill>
          <a:blip r:embed="rId3">
            <a:alphaModFix amt="50000"/>
          </a:blip>
          <a:srcRect l="0" t="0" r="0" b="0"/>
          <a:stretch>
            <a:fillRect/>
          </a:stretch>
        </p:blipFill>
        <p:spPr>
          <a:xfrm flipH="false" flipV="false" rot="9720163">
            <a:off x="12600387" y="-3298660"/>
            <a:ext cx="8670039" cy="8654721"/>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grpSp>
        <p:nvGrpSpPr>
          <p:cNvPr name="Group 2" id="2"/>
          <p:cNvGrpSpPr/>
          <p:nvPr/>
        </p:nvGrpSpPr>
        <p:grpSpPr>
          <a:xfrm rot="0">
            <a:off x="3642440" y="4135914"/>
            <a:ext cx="11003120" cy="3564231"/>
            <a:chOff x="0" y="0"/>
            <a:chExt cx="14670826" cy="4752308"/>
          </a:xfrm>
        </p:grpSpPr>
        <p:sp>
          <p:nvSpPr>
            <p:cNvPr name="TextBox 3" id="3"/>
            <p:cNvSpPr txBox="true"/>
            <p:nvPr/>
          </p:nvSpPr>
          <p:spPr>
            <a:xfrm rot="0">
              <a:off x="0" y="3933560"/>
              <a:ext cx="12911955" cy="818748"/>
            </a:xfrm>
            <a:prstGeom prst="rect">
              <a:avLst/>
            </a:prstGeom>
          </p:spPr>
          <p:txBody>
            <a:bodyPr anchor="t" rtlCol="false" tIns="0" lIns="0" bIns="0" rIns="0">
              <a:spAutoFit/>
            </a:bodyPr>
            <a:lstStyle/>
            <a:p>
              <a:pPr algn="l" marL="0" indent="0" lvl="0">
                <a:lnSpc>
                  <a:spcPts val="5269"/>
                </a:lnSpc>
              </a:pPr>
            </a:p>
          </p:txBody>
        </p:sp>
        <p:sp>
          <p:nvSpPr>
            <p:cNvPr name="TextBox 4" id="4"/>
            <p:cNvSpPr txBox="true"/>
            <p:nvPr/>
          </p:nvSpPr>
          <p:spPr>
            <a:xfrm rot="0">
              <a:off x="0" y="0"/>
              <a:ext cx="14670826" cy="1835567"/>
            </a:xfrm>
            <a:prstGeom prst="rect">
              <a:avLst/>
            </a:prstGeom>
          </p:spPr>
          <p:txBody>
            <a:bodyPr anchor="t" rtlCol="false" tIns="0" lIns="0" bIns="0" rIns="0">
              <a:spAutoFit/>
            </a:bodyPr>
            <a:lstStyle/>
            <a:p>
              <a:pPr algn="l" marL="0" indent="0" lvl="0">
                <a:lnSpc>
                  <a:spcPts val="10839"/>
                </a:lnSpc>
                <a:spcBef>
                  <a:spcPct val="0"/>
                </a:spcBef>
              </a:pPr>
              <a:r>
                <a:rPr lang="en-US" sz="9033">
                  <a:solidFill>
                    <a:srgbClr val="2B2B2B"/>
                  </a:solidFill>
                  <a:latin typeface="Cabin"/>
                  <a:ea typeface="Cabin"/>
                  <a:cs typeface="Cabin"/>
                  <a:sym typeface="Cabin"/>
                </a:rPr>
                <a:t>BỐ CỤC VÀ THỂ THƠ</a:t>
              </a:r>
            </a:p>
          </p:txBody>
        </p:sp>
      </p:grpSp>
      <p:pic>
        <p:nvPicPr>
          <p:cNvPr name="Picture 5" id="5" descr="purple animated blob"/>
          <p:cNvPicPr>
            <a:picLocks noChangeAspect="true"/>
          </p:cNvPicPr>
          <p:nvPr/>
        </p:nvPicPr>
        <p:blipFill>
          <a:blip r:embed="rId2">
            <a:alphaModFix amt="50000"/>
          </a:blip>
          <a:srcRect l="0" t="0" r="0" b="0"/>
          <a:stretch>
            <a:fillRect/>
          </a:stretch>
        </p:blipFill>
        <p:spPr>
          <a:xfrm flipH="false" flipV="false" rot="0">
            <a:off x="-3937510" y="2438918"/>
            <a:ext cx="10541077" cy="10522453"/>
          </a:xfrm>
          <a:prstGeom prst="rect">
            <a:avLst/>
          </a:prstGeom>
        </p:spPr>
      </p:pic>
      <p:pic>
        <p:nvPicPr>
          <p:cNvPr name="Picture 6" id="6" descr="purple outline animated blob"/>
          <p:cNvPicPr>
            <a:picLocks noChangeAspect="true"/>
          </p:cNvPicPr>
          <p:nvPr/>
        </p:nvPicPr>
        <p:blipFill>
          <a:blip r:embed="rId3"/>
          <a:srcRect l="0" t="0" r="0" b="0"/>
          <a:stretch>
            <a:fillRect/>
          </a:stretch>
        </p:blipFill>
        <p:spPr>
          <a:xfrm flipH="false" flipV="false" rot="0">
            <a:off x="-3463659" y="-599139"/>
            <a:ext cx="5865675" cy="5231058"/>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p:cSld>
    <p:bg>
      <p:bgPr>
        <a:solidFill>
          <a:srgbClr val="FBEFE5"/>
        </a:solidFill>
      </p:bgPr>
    </p:bg>
    <p:spTree>
      <p:nvGrpSpPr>
        <p:cNvPr id="1" name=""/>
        <p:cNvGrpSpPr/>
        <p:nvPr/>
      </p:nvGrpSpPr>
      <p:grpSpPr>
        <a:xfrm>
          <a:off x="0" y="0"/>
          <a:ext cx="0" cy="0"/>
          <a:chOff x="0" y="0"/>
          <a:chExt cx="0" cy="0"/>
        </a:xfrm>
      </p:grpSpPr>
      <p:sp>
        <p:nvSpPr>
          <p:cNvPr name="TextBox 2" id="2"/>
          <p:cNvSpPr txBox="true"/>
          <p:nvPr/>
        </p:nvSpPr>
        <p:spPr>
          <a:xfrm rot="0">
            <a:off x="1802395" y="1810118"/>
            <a:ext cx="14427636" cy="6410325"/>
          </a:xfrm>
          <a:prstGeom prst="rect">
            <a:avLst/>
          </a:prstGeom>
        </p:spPr>
        <p:txBody>
          <a:bodyPr anchor="t" rtlCol="false" tIns="0" lIns="0" bIns="0" rIns="0">
            <a:spAutoFit/>
          </a:bodyPr>
          <a:lstStyle/>
          <a:p>
            <a:pPr algn="ctr">
              <a:lnSpc>
                <a:spcPts val="7200"/>
              </a:lnSpc>
            </a:pPr>
            <a:r>
              <a:rPr lang="en-US" sz="6000">
                <a:solidFill>
                  <a:srgbClr val="2B2B2B"/>
                </a:solidFill>
                <a:latin typeface="Cabin"/>
                <a:ea typeface="Cabin"/>
                <a:cs typeface="Cabin"/>
                <a:sym typeface="Cabin"/>
              </a:rPr>
              <a:t>•• Thể thơ: Thất ngôn tứ tuyệt Đường luật.</a:t>
            </a:r>
          </a:p>
          <a:p>
            <a:pPr algn="ctr">
              <a:lnSpc>
                <a:spcPts val="7200"/>
              </a:lnSpc>
            </a:pPr>
            <a:r>
              <a:rPr lang="en-US" sz="6000">
                <a:solidFill>
                  <a:srgbClr val="2B2B2B"/>
                </a:solidFill>
                <a:latin typeface="Cabin"/>
                <a:ea typeface="Cabin"/>
                <a:cs typeface="Cabin"/>
                <a:sym typeface="Cabin"/>
              </a:rPr>
              <a:t>–• Bố cục:</a:t>
            </a:r>
          </a:p>
          <a:p>
            <a:pPr algn="ctr" marL="0" indent="0" lvl="0">
              <a:lnSpc>
                <a:spcPts val="7200"/>
              </a:lnSpc>
              <a:spcBef>
                <a:spcPct val="0"/>
              </a:spcBef>
            </a:pPr>
            <a:r>
              <a:rPr lang="en-US" sz="6000">
                <a:solidFill>
                  <a:srgbClr val="2B2B2B"/>
                </a:solidFill>
                <a:latin typeface="Cabin"/>
                <a:ea typeface="Cabin"/>
                <a:cs typeface="Cabin"/>
                <a:sym typeface="Cabin"/>
              </a:rPr>
              <a:t>– - Hai câu đầu: Cảnh buổi sớm rờ</a:t>
            </a:r>
            <a:r>
              <a:rPr lang="en-US" sz="6000" u="none">
                <a:solidFill>
                  <a:srgbClr val="2B2B2B"/>
                </a:solidFill>
                <a:latin typeface="Cabin"/>
                <a:ea typeface="Cabin"/>
                <a:cs typeface="Cabin"/>
                <a:sym typeface="Cabin"/>
              </a:rPr>
              <a:t>i Bạch Đế Thành.</a:t>
            </a:r>
          </a:p>
          <a:p>
            <a:pPr algn="ctr" marL="0" indent="0" lvl="0">
              <a:lnSpc>
                <a:spcPts val="7200"/>
              </a:lnSpc>
              <a:spcBef>
                <a:spcPct val="0"/>
              </a:spcBef>
            </a:pPr>
            <a:r>
              <a:rPr lang="en-US" sz="6000" u="none">
                <a:solidFill>
                  <a:srgbClr val="2B2B2B"/>
                </a:solidFill>
                <a:latin typeface="Cabin"/>
                <a:ea typeface="Cabin"/>
                <a:cs typeface="Cabin"/>
                <a:sym typeface="Cabin"/>
              </a:rPr>
              <a:t>– - Hai câu cuối: Hành trình trên sông và cảm xúc của nhà thơ.</a:t>
            </a:r>
          </a:p>
          <a:p>
            <a:pPr algn="ctr" marL="0" indent="0" lvl="0">
              <a:lnSpc>
                <a:spcPts val="72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6E4E3"/>
        </a:solidFill>
      </p:bgPr>
    </p:bg>
    <p:spTree>
      <p:nvGrpSpPr>
        <p:cNvPr id="1" name=""/>
        <p:cNvGrpSpPr/>
        <p:nvPr/>
      </p:nvGrpSpPr>
      <p:grpSpPr>
        <a:xfrm>
          <a:off x="0" y="0"/>
          <a:ext cx="0" cy="0"/>
          <a:chOff x="0" y="0"/>
          <a:chExt cx="0" cy="0"/>
        </a:xfrm>
      </p:grpSpPr>
      <p:sp>
        <p:nvSpPr>
          <p:cNvPr name="TextBox 2" id="2"/>
          <p:cNvSpPr txBox="true"/>
          <p:nvPr/>
        </p:nvSpPr>
        <p:spPr>
          <a:xfrm rot="0">
            <a:off x="3842529" y="3969675"/>
            <a:ext cx="9993407" cy="1891637"/>
          </a:xfrm>
          <a:prstGeom prst="rect">
            <a:avLst/>
          </a:prstGeom>
        </p:spPr>
        <p:txBody>
          <a:bodyPr anchor="t" rtlCol="false" tIns="0" lIns="0" bIns="0" rIns="0">
            <a:spAutoFit/>
          </a:bodyPr>
          <a:lstStyle/>
          <a:p>
            <a:pPr algn="l" marL="0" indent="0" lvl="0">
              <a:lnSpc>
                <a:spcPts val="14969"/>
              </a:lnSpc>
              <a:spcBef>
                <a:spcPct val="0"/>
              </a:spcBef>
            </a:pPr>
            <a:r>
              <a:rPr lang="en-US" sz="12474">
                <a:solidFill>
                  <a:srgbClr val="2B2B2B"/>
                </a:solidFill>
                <a:latin typeface="Cabin"/>
                <a:ea typeface="Cabin"/>
                <a:cs typeface="Cabin"/>
                <a:sym typeface="Cabin"/>
              </a:rPr>
              <a:t>SAU KHI ĐỌC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sp>
        <p:nvSpPr>
          <p:cNvPr name="TextBox 2" id="2"/>
          <p:cNvSpPr txBox="true"/>
          <p:nvPr/>
        </p:nvSpPr>
        <p:spPr>
          <a:xfrm rot="0">
            <a:off x="791587" y="2449554"/>
            <a:ext cx="16862574" cy="4431161"/>
          </a:xfrm>
          <a:prstGeom prst="rect">
            <a:avLst/>
          </a:prstGeom>
        </p:spPr>
        <p:txBody>
          <a:bodyPr anchor="t" rtlCol="false" tIns="0" lIns="0" bIns="0" rIns="0">
            <a:spAutoFit/>
          </a:bodyPr>
          <a:lstStyle/>
          <a:p>
            <a:pPr algn="ctr" marL="0" indent="0" lvl="0">
              <a:lnSpc>
                <a:spcPts val="7053"/>
              </a:lnSpc>
              <a:spcBef>
                <a:spcPct val="0"/>
              </a:spcBef>
            </a:pPr>
            <a:r>
              <a:rPr lang="en-US" sz="5877" u="none">
                <a:solidFill>
                  <a:srgbClr val="2B2B2B"/>
                </a:solidFill>
                <a:latin typeface="Cabin"/>
                <a:ea typeface="Cabin"/>
                <a:cs typeface="Cabin"/>
                <a:sym typeface="Cabin"/>
              </a:rPr>
              <a:t>1. Nhận xét về bức tranh thiên nhiên trên đường từ Bạch Đế đến Giang Lăng được miêu tả trong bài thơ (thiên nhiên được quan sát, miêu tả qua cái nhìn của ai, trong hoàn cảnh nào, vẻ đẹp riêng của thiên nhiên nơi đây...).</a:t>
            </a:r>
          </a:p>
        </p:txBody>
      </p:sp>
      <p:pic>
        <p:nvPicPr>
          <p:cNvPr name="Picture 3" id="3" descr="purple animated blob "/>
          <p:cNvPicPr>
            <a:picLocks noChangeAspect="true"/>
          </p:cNvPicPr>
          <p:nvPr/>
        </p:nvPicPr>
        <p:blipFill>
          <a:blip r:embed="rId2">
            <a:alphaModFix amt="50000"/>
          </a:blip>
          <a:srcRect l="0" t="0" r="0" b="0"/>
          <a:stretch>
            <a:fillRect/>
          </a:stretch>
        </p:blipFill>
        <p:spPr>
          <a:xfrm flipH="false" flipV="false" rot="0">
            <a:off x="7889712" y="-423652"/>
            <a:ext cx="11467938" cy="2012681"/>
          </a:xfrm>
          <a:prstGeom prst="rect">
            <a:avLst/>
          </a:prstGeom>
        </p:spPr>
      </p:pic>
      <p:pic>
        <p:nvPicPr>
          <p:cNvPr name="Picture 4" id="4" descr="pink animated blob "/>
          <p:cNvPicPr>
            <a:picLocks noChangeAspect="true"/>
          </p:cNvPicPr>
          <p:nvPr/>
        </p:nvPicPr>
        <p:blipFill>
          <a:blip r:embed="rId3">
            <a:alphaModFix amt="25000"/>
          </a:blip>
          <a:srcRect l="0" t="0" r="0" b="0"/>
          <a:stretch>
            <a:fillRect/>
          </a:stretch>
        </p:blipFill>
        <p:spPr>
          <a:xfrm flipH="true" flipV="false" rot="0">
            <a:off x="-1378933" y="8342980"/>
            <a:ext cx="10522933" cy="2420275"/>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2098258"/>
            <a:ext cx="18288000" cy="6407579"/>
          </a:xfrm>
          <a:prstGeom prst="rect">
            <a:avLst/>
          </a:prstGeom>
        </p:spPr>
        <p:txBody>
          <a:bodyPr anchor="t" rtlCol="false" tIns="0" lIns="0" bIns="0" rIns="0">
            <a:spAutoFit/>
          </a:bodyPr>
          <a:lstStyle/>
          <a:p>
            <a:pPr algn="ctr" marL="0" indent="0" lvl="0">
              <a:lnSpc>
                <a:spcPts val="5605"/>
              </a:lnSpc>
              <a:spcBef>
                <a:spcPct val="0"/>
              </a:spcBef>
            </a:pPr>
            <a:r>
              <a:rPr lang="en-US" sz="4671">
                <a:solidFill>
                  <a:srgbClr val="2B2B2B"/>
                </a:solidFill>
                <a:latin typeface="Cabin"/>
                <a:ea typeface="Cabin"/>
                <a:cs typeface="Cabin"/>
                <a:sym typeface="Cabin"/>
              </a:rPr>
              <a:t>- Bức tranh thiên nh</a:t>
            </a:r>
            <a:r>
              <a:rPr lang="en-US" sz="4671" u="none">
                <a:solidFill>
                  <a:srgbClr val="2B2B2B"/>
                </a:solidFill>
                <a:latin typeface="Cabin"/>
                <a:ea typeface="Cabin"/>
                <a:cs typeface="Cabin"/>
                <a:sym typeface="Cabin"/>
              </a:rPr>
              <a:t>iên trên đường từ Bạch Đế đến Giang Lăng được miêu tả qua cái nhìn của tác giả Lý Bạch khi ông đang trên thuyền rời Bạch Đế về Giang Lăng.</a:t>
            </a:r>
          </a:p>
          <a:p>
            <a:pPr algn="ctr" marL="0" indent="0" lvl="0">
              <a:lnSpc>
                <a:spcPts val="5605"/>
              </a:lnSpc>
              <a:spcBef>
                <a:spcPct val="0"/>
              </a:spcBef>
            </a:pPr>
            <a:r>
              <a:rPr lang="en-US" sz="4671" u="none">
                <a:solidFill>
                  <a:srgbClr val="2B2B2B"/>
                </a:solidFill>
                <a:latin typeface="Cabin"/>
                <a:ea typeface="Cabin"/>
                <a:cs typeface="Cabin"/>
                <a:sym typeface="Cabin"/>
              </a:rPr>
              <a:t>- Bài thơ được viết trong hoàn cảnh chia ly, rời xa nhưng khung cảnh không hề buồn bã mà ngược lại rất hùng vĩ. Khung cảnh thiên nhiên trong bức tranh ấy giữa con người với cảnh vật như hòa làm một. Dù không trực tiếp nhắc đến thác nước và núi non xung quanh nhưng qua ngòi bút tài hoa người đọc vẫn có thể cảm nhận được bức tranh thiên nhiên lúc đó.</a:t>
            </a:r>
          </a:p>
          <a:p>
            <a:pPr algn="ctr" marL="0" indent="0" lvl="0">
              <a:lnSpc>
                <a:spcPts val="560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green animated blob "/>
          <p:cNvPicPr>
            <a:picLocks noChangeAspect="true"/>
          </p:cNvPicPr>
          <p:nvPr/>
        </p:nvPicPr>
        <p:blipFill>
          <a:blip r:embed="rId2">
            <a:alphaModFix amt="25000"/>
          </a:blip>
          <a:srcRect l="0" t="0" r="0" b="0"/>
          <a:stretch>
            <a:fillRect/>
          </a:stretch>
        </p:blipFill>
        <p:spPr>
          <a:xfrm flipH="false" flipV="false" rot="-6481524">
            <a:off x="-5112611" y="-2789595"/>
            <a:ext cx="14212948" cy="15866191"/>
          </a:xfrm>
          <a:prstGeom prst="rect">
            <a:avLst/>
          </a:prstGeom>
        </p:spPr>
      </p:pic>
      <p:pic>
        <p:nvPicPr>
          <p:cNvPr name="Picture 3" id="3" descr="purple animated blob "/>
          <p:cNvPicPr>
            <a:picLocks noChangeAspect="true"/>
          </p:cNvPicPr>
          <p:nvPr/>
        </p:nvPicPr>
        <p:blipFill>
          <a:blip r:embed="rId3">
            <a:alphaModFix amt="25000"/>
          </a:blip>
          <a:srcRect l="0" t="0" r="0" b="0"/>
          <a:stretch>
            <a:fillRect/>
          </a:stretch>
        </p:blipFill>
        <p:spPr>
          <a:xfrm flipH="false" flipV="false" rot="8540967">
            <a:off x="11045685" y="-4839949"/>
            <a:ext cx="8031035" cy="8016846"/>
          </a:xfrm>
          <a:prstGeom prst="rect">
            <a:avLst/>
          </a:prstGeom>
        </p:spPr>
      </p:pic>
      <p:pic>
        <p:nvPicPr>
          <p:cNvPr name="Picture 4" id="4" descr="yellow outline animated blob"/>
          <p:cNvPicPr>
            <a:picLocks noChangeAspect="true"/>
          </p:cNvPicPr>
          <p:nvPr/>
        </p:nvPicPr>
        <p:blipFill>
          <a:blip r:embed="rId4">
            <a:alphaModFix amt="25000"/>
          </a:blip>
          <a:srcRect l="0" t="0" r="0" b="0"/>
          <a:stretch>
            <a:fillRect/>
          </a:stretch>
        </p:blipFill>
        <p:spPr>
          <a:xfrm flipH="false" flipV="false" rot="-3311130">
            <a:off x="14790428" y="6444896"/>
            <a:ext cx="5413008" cy="5626807"/>
          </a:xfrm>
          <a:prstGeom prst="rect">
            <a:avLst/>
          </a:prstGeom>
        </p:spPr>
      </p:pic>
      <p:sp>
        <p:nvSpPr>
          <p:cNvPr name="TextBox 5" id="5"/>
          <p:cNvSpPr txBox="true"/>
          <p:nvPr/>
        </p:nvSpPr>
        <p:spPr>
          <a:xfrm rot="0">
            <a:off x="287422" y="2639971"/>
            <a:ext cx="17894693" cy="4581525"/>
          </a:xfrm>
          <a:prstGeom prst="rect">
            <a:avLst/>
          </a:prstGeom>
        </p:spPr>
        <p:txBody>
          <a:bodyPr anchor="t" rtlCol="false" tIns="0" lIns="0" bIns="0" rIns="0">
            <a:spAutoFit/>
          </a:bodyPr>
          <a:lstStyle/>
          <a:p>
            <a:pPr algn="l">
              <a:lnSpc>
                <a:spcPts val="7200"/>
              </a:lnSpc>
            </a:pPr>
            <a:r>
              <a:rPr lang="en-US" sz="6000">
                <a:solidFill>
                  <a:srgbClr val="2B2B2B"/>
                </a:solidFill>
                <a:latin typeface="Cabin"/>
                <a:ea typeface="Cabin"/>
                <a:cs typeface="Cabin"/>
                <a:sym typeface="Cabin"/>
              </a:rPr>
              <a:t>2.Phân tích một số hình ảnh, từ ngữ có tác dụng thể hiện vẻ đẹp riêng của phong cảnh thiên nhiên và tình cảm, cảm xúc của chủ thể trữ tình trước phong cảnh ấy.</a:t>
            </a:r>
          </a:p>
          <a:p>
            <a:pPr algn="l">
              <a:lnSpc>
                <a:spcPts val="7200"/>
              </a:lnSpc>
            </a:pPr>
          </a:p>
          <a:p>
            <a:pPr algn="l" marL="0" indent="0" lvl="0">
              <a:lnSpc>
                <a:spcPts val="72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CF7"/>
        </a:solidFill>
      </p:bgPr>
    </p:bg>
    <p:spTree>
      <p:nvGrpSpPr>
        <p:cNvPr id="1" name=""/>
        <p:cNvGrpSpPr/>
        <p:nvPr/>
      </p:nvGrpSpPr>
      <p:grpSpPr>
        <a:xfrm>
          <a:off x="0" y="0"/>
          <a:ext cx="0" cy="0"/>
          <a:chOff x="0" y="0"/>
          <a:chExt cx="0" cy="0"/>
        </a:xfrm>
      </p:grpSpPr>
      <p:sp>
        <p:nvSpPr>
          <p:cNvPr name="TextBox 2" id="2"/>
          <p:cNvSpPr txBox="true"/>
          <p:nvPr/>
        </p:nvSpPr>
        <p:spPr>
          <a:xfrm rot="0">
            <a:off x="65728" y="1276549"/>
            <a:ext cx="18156544" cy="7246288"/>
          </a:xfrm>
          <a:prstGeom prst="rect">
            <a:avLst/>
          </a:prstGeom>
        </p:spPr>
        <p:txBody>
          <a:bodyPr anchor="t" rtlCol="false" tIns="0" lIns="0" bIns="0" rIns="0">
            <a:spAutoFit/>
          </a:bodyPr>
          <a:lstStyle/>
          <a:p>
            <a:pPr algn="ctr" marL="0" indent="0" lvl="0">
              <a:lnSpc>
                <a:spcPts val="6339"/>
              </a:lnSpc>
              <a:spcBef>
                <a:spcPct val="0"/>
              </a:spcBef>
            </a:pPr>
            <a:r>
              <a:rPr lang="en-US" sz="5283">
                <a:solidFill>
                  <a:srgbClr val="2B2B2B"/>
                </a:solidFill>
                <a:latin typeface="Cabin"/>
                <a:ea typeface="Cabin"/>
                <a:cs typeface="Cabin"/>
                <a:sym typeface="Cabin"/>
              </a:rPr>
              <a:t>- Hình ảnh “vạn trùng san” (nú</a:t>
            </a:r>
            <a:r>
              <a:rPr lang="en-US" sz="5283" u="none">
                <a:solidFill>
                  <a:srgbClr val="2B2B2B"/>
                </a:solidFill>
                <a:latin typeface="Cabin"/>
                <a:ea typeface="Cabin"/>
                <a:cs typeface="Cabin"/>
                <a:sym typeface="Cabin"/>
              </a:rPr>
              <a:t>i non muôn trùng), là hình ảnh cho thấy vẻ đẹp của núi sông hùng vĩ của phía nam Trung Quốc từ Bạch Đế. Nơi đây núi tiếp núi, vách đá che khuất cả bầu trời, vượn kêu thê thảm, hang trống truyền âm thanh bi ai không dứt (tiếng vượn đôi bờ kêu không dứt). Tuy nhiên, tâm trạng của chủ thể trữ tình lại rất hào hứng, vui tươi, hoà nhập vào cảnh tượng hùng vĩ đó qua câu cuối có từ “khinh chu” (con thuyền nhẹ) vượt qua núi non muôn dặm. Có thể thấy đó là sự hoà hợp thiên – nhân (thiên nhiên – con người).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pink animated blob "/>
          <p:cNvPicPr>
            <a:picLocks noChangeAspect="true"/>
          </p:cNvPicPr>
          <p:nvPr/>
        </p:nvPicPr>
        <p:blipFill>
          <a:blip r:embed="rId2">
            <a:alphaModFix amt="25000"/>
          </a:blip>
          <a:srcRect l="0" t="0" r="0" b="0"/>
          <a:stretch>
            <a:fillRect/>
          </a:stretch>
        </p:blipFill>
        <p:spPr>
          <a:xfrm flipH="false" flipV="false" rot="2386853">
            <a:off x="-3305272" y="-1267467"/>
            <a:ext cx="14322769" cy="13230153"/>
          </a:xfrm>
          <a:prstGeom prst="rect">
            <a:avLst/>
          </a:prstGeom>
        </p:spPr>
      </p:pic>
      <p:grpSp>
        <p:nvGrpSpPr>
          <p:cNvPr name="Group 3" id="3"/>
          <p:cNvGrpSpPr/>
          <p:nvPr/>
        </p:nvGrpSpPr>
        <p:grpSpPr>
          <a:xfrm rot="0">
            <a:off x="0" y="3468750"/>
            <a:ext cx="18288000" cy="2149057"/>
            <a:chOff x="0" y="0"/>
            <a:chExt cx="24384000" cy="2865410"/>
          </a:xfrm>
        </p:grpSpPr>
        <p:sp>
          <p:nvSpPr>
            <p:cNvPr name="TextBox 4" id="4"/>
            <p:cNvSpPr txBox="true"/>
            <p:nvPr/>
          </p:nvSpPr>
          <p:spPr>
            <a:xfrm rot="0">
              <a:off x="0" y="-9525"/>
              <a:ext cx="24384000" cy="1416743"/>
            </a:xfrm>
            <a:prstGeom prst="rect">
              <a:avLst/>
            </a:prstGeom>
          </p:spPr>
          <p:txBody>
            <a:bodyPr anchor="t" rtlCol="false" tIns="0" lIns="0" bIns="0" rIns="0">
              <a:spAutoFit/>
            </a:bodyPr>
            <a:lstStyle/>
            <a:p>
              <a:pPr algn="l" marL="0" indent="0" lvl="0">
                <a:lnSpc>
                  <a:spcPts val="8310"/>
                </a:lnSpc>
                <a:spcBef>
                  <a:spcPct val="0"/>
                </a:spcBef>
              </a:pPr>
              <a:r>
                <a:rPr lang="en-US" sz="6925">
                  <a:solidFill>
                    <a:srgbClr val="2B2B2B"/>
                  </a:solidFill>
                  <a:latin typeface="Cabin"/>
                  <a:ea typeface="Cabin"/>
                  <a:cs typeface="Cabin"/>
                  <a:sym typeface="Cabin"/>
                </a:rPr>
                <a:t>3.Xác định</a:t>
              </a:r>
              <a:r>
                <a:rPr lang="en-US" sz="6925" u="none">
                  <a:solidFill>
                    <a:srgbClr val="2B2B2B"/>
                  </a:solidFill>
                  <a:latin typeface="Cabin"/>
                  <a:ea typeface="Cabin"/>
                  <a:cs typeface="Cabin"/>
                  <a:sym typeface="Cabin"/>
                </a:rPr>
                <a:t> chủ để, cảm hứng chủ đạo của bài thơ.</a:t>
              </a:r>
            </a:p>
          </p:txBody>
        </p:sp>
        <p:sp>
          <p:nvSpPr>
            <p:cNvPr name="TextBox 5" id="5"/>
            <p:cNvSpPr txBox="true"/>
            <p:nvPr/>
          </p:nvSpPr>
          <p:spPr>
            <a:xfrm rot="0">
              <a:off x="0" y="2231691"/>
              <a:ext cx="23443216" cy="633719"/>
            </a:xfrm>
            <a:prstGeom prst="rect">
              <a:avLst/>
            </a:prstGeom>
          </p:spPr>
          <p:txBody>
            <a:bodyPr anchor="t" rtlCol="false" tIns="0" lIns="0" bIns="0" rIns="0">
              <a:spAutoFit/>
            </a:bodyPr>
            <a:lstStyle/>
            <a:p>
              <a:pPr algn="l" marL="0" indent="0" lvl="0">
                <a:lnSpc>
                  <a:spcPts val="403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pink outline animated blob "/>
          <p:cNvPicPr>
            <a:picLocks noChangeAspect="true"/>
          </p:cNvPicPr>
          <p:nvPr/>
        </p:nvPicPr>
        <p:blipFill>
          <a:blip r:embed="rId2"/>
          <a:srcRect l="0" t="0" r="0" b="0"/>
          <a:stretch>
            <a:fillRect/>
          </a:stretch>
        </p:blipFill>
        <p:spPr>
          <a:xfrm flipH="false" flipV="false" rot="0">
            <a:off x="8483139" y="-2447914"/>
            <a:ext cx="5334494" cy="4895828"/>
          </a:xfrm>
          <a:prstGeom prst="rect">
            <a:avLst/>
          </a:prstGeom>
        </p:spPr>
      </p:pic>
      <p:sp>
        <p:nvSpPr>
          <p:cNvPr name="Freeform 3" id="3"/>
          <p:cNvSpPr/>
          <p:nvPr/>
        </p:nvSpPr>
        <p:spPr>
          <a:xfrm flipH="false" flipV="false" rot="0">
            <a:off x="10076294" y="0"/>
            <a:ext cx="8211706" cy="10287000"/>
          </a:xfrm>
          <a:custGeom>
            <a:avLst/>
            <a:gdLst/>
            <a:ahLst/>
            <a:cxnLst/>
            <a:rect r="r" b="b" t="t" l="l"/>
            <a:pathLst>
              <a:path h="10287000" w="8211706">
                <a:moveTo>
                  <a:pt x="0" y="0"/>
                </a:moveTo>
                <a:lnTo>
                  <a:pt x="8211706" y="0"/>
                </a:lnTo>
                <a:lnTo>
                  <a:pt x="8211706" y="10287000"/>
                </a:lnTo>
                <a:lnTo>
                  <a:pt x="0" y="10287000"/>
                </a:lnTo>
                <a:lnTo>
                  <a:pt x="0" y="0"/>
                </a:lnTo>
                <a:close/>
              </a:path>
            </a:pathLst>
          </a:custGeom>
          <a:blipFill>
            <a:blip r:embed="rId3"/>
            <a:stretch>
              <a:fillRect l="-8112" t="0" r="-38996" b="0"/>
            </a:stretch>
          </a:blipFill>
        </p:spPr>
      </p:sp>
      <p:sp>
        <p:nvSpPr>
          <p:cNvPr name="TextBox 4" id="4"/>
          <p:cNvSpPr txBox="true"/>
          <p:nvPr/>
        </p:nvSpPr>
        <p:spPr>
          <a:xfrm rot="0">
            <a:off x="191584" y="1841034"/>
            <a:ext cx="9884711" cy="7130723"/>
          </a:xfrm>
          <a:prstGeom prst="rect">
            <a:avLst/>
          </a:prstGeom>
        </p:spPr>
        <p:txBody>
          <a:bodyPr anchor="t" rtlCol="false" tIns="0" lIns="0" bIns="0" rIns="0">
            <a:spAutoFit/>
          </a:bodyPr>
          <a:lstStyle/>
          <a:p>
            <a:pPr algn="l" marL="0" indent="0" lvl="0">
              <a:lnSpc>
                <a:spcPts val="6238"/>
              </a:lnSpc>
              <a:spcBef>
                <a:spcPct val="0"/>
              </a:spcBef>
            </a:pPr>
            <a:r>
              <a:rPr lang="en-US" sz="5198">
                <a:solidFill>
                  <a:srgbClr val="2B2B2B"/>
                </a:solidFill>
                <a:latin typeface="Cabin"/>
                <a:ea typeface="Cabin"/>
                <a:cs typeface="Cabin"/>
                <a:sym typeface="Cabin"/>
              </a:rPr>
              <a:t>-</a:t>
            </a:r>
            <a:r>
              <a:rPr lang="en-US" sz="5198" u="none">
                <a:solidFill>
                  <a:srgbClr val="2B2B2B"/>
                </a:solidFill>
                <a:latin typeface="Cabin"/>
                <a:ea typeface="Cabin"/>
                <a:cs typeface="Cabin"/>
                <a:sym typeface="Cabin"/>
              </a:rPr>
              <a:t> Chủ đề: Lòng yêu mến thiên nhiên, cảnh vật; sự giao thoa giữa con người và những thay đổi của tự nhiên.</a:t>
            </a:r>
          </a:p>
          <a:p>
            <a:pPr algn="l" marL="0" indent="0" lvl="0">
              <a:lnSpc>
                <a:spcPts val="6238"/>
              </a:lnSpc>
              <a:spcBef>
                <a:spcPct val="0"/>
              </a:spcBef>
            </a:pPr>
            <a:r>
              <a:rPr lang="en-US" sz="5198" u="none">
                <a:solidFill>
                  <a:srgbClr val="2B2B2B"/>
                </a:solidFill>
                <a:latin typeface="Cabin"/>
                <a:ea typeface="Cabin"/>
                <a:cs typeface="Cabin"/>
                <a:sym typeface="Cabin"/>
              </a:rPr>
              <a:t>- Cảm hứng chủ đạo toát ra từ văn bản là tinh thần lạc quan, sự ngợi ca và yêu thương phong cảnh, nhất là phong cảnh núi non hùng vĩ.</a:t>
            </a:r>
          </a:p>
          <a:p>
            <a:pPr algn="l" marL="0" indent="0" lvl="0">
              <a:lnSpc>
                <a:spcPts val="623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descr="pastel orange animated blob "/>
          <p:cNvPicPr>
            <a:picLocks noChangeAspect="true"/>
          </p:cNvPicPr>
          <p:nvPr/>
        </p:nvPicPr>
        <p:blipFill>
          <a:blip r:embed="rId2">
            <a:alphaModFix amt="25000"/>
          </a:blip>
          <a:srcRect l="0" t="0" r="0" b="0"/>
          <a:stretch>
            <a:fillRect/>
          </a:stretch>
        </p:blipFill>
        <p:spPr>
          <a:xfrm flipH="false" flipV="false" rot="0">
            <a:off x="-1662681" y="-6438340"/>
            <a:ext cx="13761077" cy="14153590"/>
          </a:xfrm>
          <a:prstGeom prst="rect">
            <a:avLst/>
          </a:prstGeom>
        </p:spPr>
      </p:pic>
      <p:grpSp>
        <p:nvGrpSpPr>
          <p:cNvPr name="Group 3" id="3"/>
          <p:cNvGrpSpPr/>
          <p:nvPr/>
        </p:nvGrpSpPr>
        <p:grpSpPr>
          <a:xfrm rot="0">
            <a:off x="4911263" y="4299594"/>
            <a:ext cx="8465475" cy="1754931"/>
            <a:chOff x="0" y="0"/>
            <a:chExt cx="11287299" cy="2339908"/>
          </a:xfrm>
        </p:grpSpPr>
        <p:sp>
          <p:nvSpPr>
            <p:cNvPr name="TextBox 4" id="4"/>
            <p:cNvSpPr txBox="true"/>
            <p:nvPr/>
          </p:nvSpPr>
          <p:spPr>
            <a:xfrm rot="0">
              <a:off x="0" y="-9525"/>
              <a:ext cx="11287299" cy="1228725"/>
            </a:xfrm>
            <a:prstGeom prst="rect">
              <a:avLst/>
            </a:prstGeom>
          </p:spPr>
          <p:txBody>
            <a:bodyPr anchor="t" rtlCol="false" tIns="0" lIns="0" bIns="0" rIns="0">
              <a:spAutoFit/>
            </a:bodyPr>
            <a:lstStyle/>
            <a:p>
              <a:pPr algn="ctr" marL="0" indent="0" lvl="0">
                <a:lnSpc>
                  <a:spcPts val="7200"/>
                </a:lnSpc>
                <a:spcBef>
                  <a:spcPct val="0"/>
                </a:spcBef>
              </a:pPr>
              <a:r>
                <a:rPr lang="en-US" sz="6000">
                  <a:solidFill>
                    <a:srgbClr val="2B2B2B"/>
                  </a:solidFill>
                  <a:latin typeface="Cabin"/>
                  <a:ea typeface="Cabin"/>
                  <a:cs typeface="Cabin"/>
                  <a:sym typeface="Cabin"/>
                </a:rPr>
                <a:t>KẾT THÚC</a:t>
              </a:r>
            </a:p>
          </p:txBody>
        </p:sp>
        <p:sp>
          <p:nvSpPr>
            <p:cNvPr name="TextBox 5" id="5"/>
            <p:cNvSpPr txBox="true"/>
            <p:nvPr/>
          </p:nvSpPr>
          <p:spPr>
            <a:xfrm rot="0">
              <a:off x="0" y="1802274"/>
              <a:ext cx="11287299" cy="537633"/>
            </a:xfrm>
            <a:prstGeom prst="rect">
              <a:avLst/>
            </a:prstGeom>
          </p:spPr>
          <p:txBody>
            <a:bodyPr anchor="t" rtlCol="false" tIns="0" lIns="0" bIns="0" rIns="0">
              <a:spAutoFit/>
            </a:bodyPr>
            <a:lstStyle/>
            <a:p>
              <a:pPr algn="ctr" marL="0" indent="0" lvl="0">
                <a:lnSpc>
                  <a:spcPts val="3499"/>
                </a:lnSpc>
              </a:pPr>
              <a:r>
                <a:rPr lang="en-US" sz="2499">
                  <a:solidFill>
                    <a:srgbClr val="2B2B2B"/>
                  </a:solidFill>
                  <a:latin typeface="Cabin"/>
                  <a:ea typeface="Cabin"/>
                  <a:cs typeface="Cabin"/>
                  <a:sym typeface="Cabin"/>
                </a:rPr>
                <a:t>Xin Cảm Ơn!</a:t>
              </a:r>
            </a:p>
          </p:txBody>
        </p:sp>
      </p:grpSp>
      <p:pic>
        <p:nvPicPr>
          <p:cNvPr name="Picture 6" id="6" descr="pink animated blob "/>
          <p:cNvPicPr>
            <a:picLocks noChangeAspect="true"/>
          </p:cNvPicPr>
          <p:nvPr/>
        </p:nvPicPr>
        <p:blipFill>
          <a:blip r:embed="rId3">
            <a:alphaModFix amt="25000"/>
          </a:blip>
          <a:srcRect l="0" t="0" r="0" b="0"/>
          <a:stretch>
            <a:fillRect/>
          </a:stretch>
        </p:blipFill>
        <p:spPr>
          <a:xfrm flipH="false" flipV="false" rot="0">
            <a:off x="11511932" y="6947324"/>
            <a:ext cx="8674222" cy="7652259"/>
          </a:xfrm>
          <a:prstGeom prst="rect">
            <a:avLst/>
          </a:prstGeom>
        </p:spPr>
      </p:pic>
      <p:pic>
        <p:nvPicPr>
          <p:cNvPr name="Picture 7" id="7" descr="purple outline animated blob"/>
          <p:cNvPicPr>
            <a:picLocks noChangeAspect="true"/>
          </p:cNvPicPr>
          <p:nvPr/>
        </p:nvPicPr>
        <p:blipFill>
          <a:blip r:embed="rId4">
            <a:alphaModFix amt="25000"/>
          </a:blip>
          <a:srcRect l="0" t="0" r="0" b="0"/>
          <a:stretch>
            <a:fillRect/>
          </a:stretch>
        </p:blipFill>
        <p:spPr>
          <a:xfrm flipH="false" flipV="false" rot="0">
            <a:off x="15141061" y="2810706"/>
            <a:ext cx="6293877" cy="5612932"/>
          </a:xfrm>
          <a:prstGeom prst="rect">
            <a:avLst/>
          </a:prstGeom>
        </p:spPr>
      </p:pic>
      <p:pic>
        <p:nvPicPr>
          <p:cNvPr name="Picture 8" id="8" descr="yellow outline animated blob"/>
          <p:cNvPicPr>
            <a:picLocks noChangeAspect="true"/>
          </p:cNvPicPr>
          <p:nvPr/>
        </p:nvPicPr>
        <p:blipFill>
          <a:blip r:embed="rId5">
            <a:alphaModFix amt="25000"/>
          </a:blip>
          <a:srcRect l="0" t="0" r="0" b="0"/>
          <a:stretch>
            <a:fillRect/>
          </a:stretch>
        </p:blipFill>
        <p:spPr>
          <a:xfrm flipH="false" flipV="false" rot="-3435299">
            <a:off x="-3167656" y="638455"/>
            <a:ext cx="6335313" cy="70767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DAHCrBv3bpI</dc:identifier>
  <dcterms:modified xsi:type="dcterms:W3CDTF">2011-08-01T06:04:30Z</dcterms:modified>
  <cp:revision>1</cp:revision>
  <dc:title>Bài thuyết trình Khối màu pastel Cơ bản Đơn giản</dc:title>
</cp:coreProperties>
</file>