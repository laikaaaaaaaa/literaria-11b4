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Montserrat" charset="1" panose="00000500000000000000"/>
      <p:regular r:id="rId17"/>
    </p:embeddedFont>
    <p:embeddedFont>
      <p:font typeface="Playfair Display Bold" charset="1" panose="00000000000000000000"/>
      <p:regular r:id="rId18"/>
    </p:embeddedFont>
    <p:embeddedFont>
      <p:font typeface="Montserrat Bold" charset="1" panose="00000800000000000000"/>
      <p:regular r:id="rId19"/>
    </p:embeddedFont>
    <p:embeddedFont>
      <p:font typeface="Merriweather Bold" charset="1" panose="00000800000000000000"/>
      <p:regular r:id="rId20"/>
    </p:embeddedFont>
    <p:embeddedFont>
      <p:font typeface="Comfortaa" charset="1" panose="00000500000000000000"/>
      <p:regular r:id="rId21"/>
    </p:embeddedFont>
    <p:embeddedFont>
      <p:font typeface="Comfortaa Bold" charset="1" panose="00000800000000000000"/>
      <p:regular r:id="rId22"/>
    </p:embeddedFont>
    <p:embeddedFont>
      <p:font typeface="Montserrat Italics" charset="1" panose="0000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9259" r="0" b="-9259"/>
              </a:stretch>
            </a:blipFill>
          </p:spPr>
        </p:sp>
      </p:grpSp>
      <p:sp>
        <p:nvSpPr>
          <p:cNvPr name="TextBox 4" id="4"/>
          <p:cNvSpPr txBox="true"/>
          <p:nvPr/>
        </p:nvSpPr>
        <p:spPr>
          <a:xfrm rot="0">
            <a:off x="5186362" y="2831011"/>
            <a:ext cx="7915275" cy="912343"/>
          </a:xfrm>
          <a:prstGeom prst="rect">
            <a:avLst/>
          </a:prstGeom>
        </p:spPr>
        <p:txBody>
          <a:bodyPr anchor="t" rtlCol="false" tIns="0" lIns="0" bIns="0" rIns="0">
            <a:spAutoFit/>
          </a:bodyPr>
          <a:lstStyle/>
          <a:p>
            <a:pPr algn="ctr">
              <a:lnSpc>
                <a:spcPts val="6046"/>
              </a:lnSpc>
            </a:pPr>
            <a:r>
              <a:rPr lang="en-US" sz="3150">
                <a:solidFill>
                  <a:srgbClr val="64748B"/>
                </a:solidFill>
                <a:latin typeface="Montserrat"/>
                <a:ea typeface="Montserrat"/>
                <a:cs typeface="Montserrat"/>
                <a:sym typeface="Montserrat"/>
              </a:rPr>
              <a:t>PHÂN TÍCH VĂN BẢN</a:t>
            </a:r>
          </a:p>
        </p:txBody>
      </p:sp>
      <p:sp>
        <p:nvSpPr>
          <p:cNvPr name="TextBox 5" id="5"/>
          <p:cNvSpPr txBox="true"/>
          <p:nvPr/>
        </p:nvSpPr>
        <p:spPr>
          <a:xfrm rot="0">
            <a:off x="4560922" y="3871093"/>
            <a:ext cx="9166146" cy="1498102"/>
          </a:xfrm>
          <a:prstGeom prst="rect">
            <a:avLst/>
          </a:prstGeom>
        </p:spPr>
        <p:txBody>
          <a:bodyPr anchor="t" rtlCol="false" tIns="0" lIns="0" bIns="0" rIns="0">
            <a:spAutoFit/>
          </a:bodyPr>
          <a:lstStyle/>
          <a:p>
            <a:pPr algn="ctr">
              <a:lnSpc>
                <a:spcPts val="12177"/>
              </a:lnSpc>
            </a:pPr>
            <a:r>
              <a:rPr lang="en-US" sz="9225" b="true">
                <a:solidFill>
                  <a:srgbClr val="2D5A27"/>
                </a:solidFill>
                <a:latin typeface="Playfair Display Bold"/>
                <a:ea typeface="Playfair Display Bold"/>
                <a:cs typeface="Playfair Display Bold"/>
                <a:sym typeface="Playfair Display Bold"/>
              </a:rPr>
              <a:t>KIẾN VÀ NGƯỜI</a:t>
            </a:r>
          </a:p>
        </p:txBody>
      </p:sp>
      <p:grpSp>
        <p:nvGrpSpPr>
          <p:cNvPr name="Group 6" id="6"/>
          <p:cNvGrpSpPr/>
          <p:nvPr/>
        </p:nvGrpSpPr>
        <p:grpSpPr>
          <a:xfrm rot="0">
            <a:off x="6543746" y="6044260"/>
            <a:ext cx="5200498" cy="1117835"/>
            <a:chOff x="0" y="0"/>
            <a:chExt cx="6933997" cy="1490447"/>
          </a:xfrm>
        </p:grpSpPr>
        <p:sp>
          <p:nvSpPr>
            <p:cNvPr name="Freeform 7" id="7" descr="image.png"/>
            <p:cNvSpPr/>
            <p:nvPr/>
          </p:nvSpPr>
          <p:spPr>
            <a:xfrm flipH="false" flipV="false" rot="0">
              <a:off x="0" y="0"/>
              <a:ext cx="6934073" cy="1490472"/>
            </a:xfrm>
            <a:custGeom>
              <a:avLst/>
              <a:gdLst/>
              <a:ahLst/>
              <a:cxnLst/>
              <a:rect r="r" b="b" t="t" l="l"/>
              <a:pathLst>
                <a:path h="1490472" w="6934073">
                  <a:moveTo>
                    <a:pt x="652907" y="0"/>
                  </a:moveTo>
                  <a:lnTo>
                    <a:pt x="6281166" y="0"/>
                  </a:lnTo>
                  <a:cubicBezTo>
                    <a:pt x="6641719" y="0"/>
                    <a:pt x="6934073" y="110744"/>
                    <a:pt x="6934073" y="247269"/>
                  </a:cubicBezTo>
                  <a:lnTo>
                    <a:pt x="6934073" y="1243203"/>
                  </a:lnTo>
                  <a:cubicBezTo>
                    <a:pt x="6934073" y="1308735"/>
                    <a:pt x="6865239" y="1371727"/>
                    <a:pt x="6742811" y="1418082"/>
                  </a:cubicBezTo>
                  <a:cubicBezTo>
                    <a:pt x="6620383" y="1464437"/>
                    <a:pt x="6454267" y="1490472"/>
                    <a:pt x="6281166" y="1490472"/>
                  </a:cubicBezTo>
                  <a:lnTo>
                    <a:pt x="652907" y="1490472"/>
                  </a:lnTo>
                  <a:cubicBezTo>
                    <a:pt x="479806" y="1490472"/>
                    <a:pt x="313690" y="1464437"/>
                    <a:pt x="191262" y="1418082"/>
                  </a:cubicBezTo>
                  <a:cubicBezTo>
                    <a:pt x="68834" y="1371727"/>
                    <a:pt x="0" y="1308735"/>
                    <a:pt x="0" y="1243203"/>
                  </a:cubicBezTo>
                  <a:lnTo>
                    <a:pt x="0" y="247269"/>
                  </a:lnTo>
                  <a:cubicBezTo>
                    <a:pt x="0" y="181737"/>
                    <a:pt x="68834" y="118745"/>
                    <a:pt x="191262" y="72390"/>
                  </a:cubicBezTo>
                  <a:cubicBezTo>
                    <a:pt x="313690" y="26035"/>
                    <a:pt x="479679" y="0"/>
                    <a:pt x="652907" y="0"/>
                  </a:cubicBezTo>
                  <a:close/>
                </a:path>
              </a:pathLst>
            </a:custGeom>
            <a:solidFill>
              <a:srgbClr val="E0E4EA">
                <a:alpha val="16471"/>
              </a:srgbClr>
            </a:solidFill>
          </p:spPr>
        </p:sp>
      </p:grpSp>
      <p:sp>
        <p:nvSpPr>
          <p:cNvPr name="TextBox 8" id="8"/>
          <p:cNvSpPr txBox="true"/>
          <p:nvPr/>
        </p:nvSpPr>
        <p:spPr>
          <a:xfrm rot="0">
            <a:off x="6744014" y="6126432"/>
            <a:ext cx="4799981" cy="772516"/>
          </a:xfrm>
          <a:prstGeom prst="rect">
            <a:avLst/>
          </a:prstGeom>
        </p:spPr>
        <p:txBody>
          <a:bodyPr anchor="t" rtlCol="false" tIns="0" lIns="0" bIns="0" rIns="0">
            <a:spAutoFit/>
          </a:bodyPr>
          <a:lstStyle/>
          <a:p>
            <a:pPr algn="ctr">
              <a:lnSpc>
                <a:spcPts val="5182"/>
              </a:lnSpc>
            </a:pPr>
            <a:r>
              <a:rPr lang="en-US" sz="2700">
                <a:solidFill>
                  <a:srgbClr val="334155"/>
                </a:solidFill>
                <a:latin typeface="Montserrat"/>
                <a:ea typeface="Montserrat"/>
                <a:cs typeface="Montserrat"/>
                <a:sym typeface="Montserrat"/>
              </a:rPr>
              <a:t>Tác giả: </a:t>
            </a:r>
            <a:r>
              <a:rPr lang="en-US" sz="2700" b="true">
                <a:solidFill>
                  <a:srgbClr val="2D5A27"/>
                </a:solidFill>
                <a:latin typeface="Montserrat Bold"/>
                <a:ea typeface="Montserrat Bold"/>
                <a:cs typeface="Montserrat Bold"/>
                <a:sym typeface="Montserrat Bold"/>
              </a:rPr>
              <a:t>Trần Duy Phiên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9259" r="0" b="-9259"/>
              </a:stretch>
            </a:blipFill>
          </p:spPr>
        </p:sp>
      </p:grpSp>
      <p:grpSp>
        <p:nvGrpSpPr>
          <p:cNvPr name="Group 4" id="4"/>
          <p:cNvGrpSpPr/>
          <p:nvPr/>
        </p:nvGrpSpPr>
        <p:grpSpPr>
          <a:xfrm rot="0">
            <a:off x="857250" y="3579019"/>
            <a:ext cx="5238560" cy="4614862"/>
            <a:chOff x="0" y="0"/>
            <a:chExt cx="6984746" cy="6153150"/>
          </a:xfrm>
        </p:grpSpPr>
        <p:sp>
          <p:nvSpPr>
            <p:cNvPr name="Freeform 5" id="5" descr="image.png"/>
            <p:cNvSpPr/>
            <p:nvPr/>
          </p:nvSpPr>
          <p:spPr>
            <a:xfrm flipH="false" flipV="false" rot="0">
              <a:off x="0" y="0"/>
              <a:ext cx="6984746" cy="6153150"/>
            </a:xfrm>
            <a:custGeom>
              <a:avLst/>
              <a:gdLst/>
              <a:ahLst/>
              <a:cxnLst/>
              <a:rect r="r" b="b" t="t" l="l"/>
              <a:pathLst>
                <a:path h="6153150" w="6984746">
                  <a:moveTo>
                    <a:pt x="0" y="0"/>
                  </a:moveTo>
                  <a:lnTo>
                    <a:pt x="6984746" y="0"/>
                  </a:lnTo>
                  <a:lnTo>
                    <a:pt x="6984746" y="6153150"/>
                  </a:lnTo>
                  <a:lnTo>
                    <a:pt x="0" y="6153150"/>
                  </a:lnTo>
                  <a:lnTo>
                    <a:pt x="0" y="0"/>
                  </a:lnTo>
                  <a:close/>
                </a:path>
              </a:pathLst>
            </a:custGeom>
            <a:blipFill>
              <a:blip r:embed="rId3"/>
              <a:stretch>
                <a:fillRect l="0" t="-107" r="0" b="-107"/>
              </a:stretch>
            </a:blipFill>
          </p:spPr>
        </p:sp>
      </p:grpSp>
      <p:grpSp>
        <p:nvGrpSpPr>
          <p:cNvPr name="Group 6" id="6"/>
          <p:cNvGrpSpPr/>
          <p:nvPr/>
        </p:nvGrpSpPr>
        <p:grpSpPr>
          <a:xfrm rot="0">
            <a:off x="6524473" y="3579019"/>
            <a:ext cx="5238845" cy="4614862"/>
            <a:chOff x="0" y="0"/>
            <a:chExt cx="6985127" cy="6153150"/>
          </a:xfrm>
        </p:grpSpPr>
        <p:sp>
          <p:nvSpPr>
            <p:cNvPr name="Freeform 7" id="7" descr="image.png"/>
            <p:cNvSpPr/>
            <p:nvPr/>
          </p:nvSpPr>
          <p:spPr>
            <a:xfrm flipH="false" flipV="false" rot="0">
              <a:off x="0" y="0"/>
              <a:ext cx="6985127" cy="6153150"/>
            </a:xfrm>
            <a:custGeom>
              <a:avLst/>
              <a:gdLst/>
              <a:ahLst/>
              <a:cxnLst/>
              <a:rect r="r" b="b" t="t" l="l"/>
              <a:pathLst>
                <a:path h="6153150" w="6985127">
                  <a:moveTo>
                    <a:pt x="0" y="0"/>
                  </a:moveTo>
                  <a:lnTo>
                    <a:pt x="6985127" y="0"/>
                  </a:lnTo>
                  <a:lnTo>
                    <a:pt x="6985127" y="6153150"/>
                  </a:lnTo>
                  <a:lnTo>
                    <a:pt x="0" y="6153150"/>
                  </a:lnTo>
                  <a:lnTo>
                    <a:pt x="0" y="0"/>
                  </a:lnTo>
                  <a:close/>
                </a:path>
              </a:pathLst>
            </a:custGeom>
            <a:blipFill>
              <a:blip r:embed="rId4"/>
              <a:stretch>
                <a:fillRect l="-25" t="0" r="-25" b="0"/>
              </a:stretch>
            </a:blipFill>
          </p:spPr>
        </p:sp>
      </p:grpSp>
      <p:grpSp>
        <p:nvGrpSpPr>
          <p:cNvPr name="Group 8" id="8"/>
          <p:cNvGrpSpPr/>
          <p:nvPr/>
        </p:nvGrpSpPr>
        <p:grpSpPr>
          <a:xfrm rot="0">
            <a:off x="12191924" y="3579019"/>
            <a:ext cx="5238560" cy="4614862"/>
            <a:chOff x="0" y="0"/>
            <a:chExt cx="6984746" cy="6153150"/>
          </a:xfrm>
        </p:grpSpPr>
        <p:sp>
          <p:nvSpPr>
            <p:cNvPr name="Freeform 9" id="9" descr="image.png"/>
            <p:cNvSpPr/>
            <p:nvPr/>
          </p:nvSpPr>
          <p:spPr>
            <a:xfrm flipH="false" flipV="false" rot="0">
              <a:off x="0" y="0"/>
              <a:ext cx="6984746" cy="6153150"/>
            </a:xfrm>
            <a:custGeom>
              <a:avLst/>
              <a:gdLst/>
              <a:ahLst/>
              <a:cxnLst/>
              <a:rect r="r" b="b" t="t" l="l"/>
              <a:pathLst>
                <a:path h="6153150" w="6984746">
                  <a:moveTo>
                    <a:pt x="0" y="0"/>
                  </a:moveTo>
                  <a:lnTo>
                    <a:pt x="6984746" y="0"/>
                  </a:lnTo>
                  <a:lnTo>
                    <a:pt x="6984746" y="6153150"/>
                  </a:lnTo>
                  <a:lnTo>
                    <a:pt x="0" y="6153150"/>
                  </a:lnTo>
                  <a:lnTo>
                    <a:pt x="0" y="0"/>
                  </a:lnTo>
                  <a:close/>
                </a:path>
              </a:pathLst>
            </a:custGeom>
            <a:blipFill>
              <a:blip r:embed="rId3"/>
              <a:stretch>
                <a:fillRect l="0" t="-107" r="0" b="-107"/>
              </a:stretch>
            </a:blipFill>
          </p:spPr>
        </p:sp>
      </p:grpSp>
      <p:grpSp>
        <p:nvGrpSpPr>
          <p:cNvPr name="Group 10" id="10"/>
          <p:cNvGrpSpPr/>
          <p:nvPr/>
        </p:nvGrpSpPr>
        <p:grpSpPr>
          <a:xfrm rot="0">
            <a:off x="1285875" y="4007644"/>
            <a:ext cx="714375" cy="571500"/>
            <a:chOff x="0" y="0"/>
            <a:chExt cx="952500" cy="762000"/>
          </a:xfrm>
        </p:grpSpPr>
        <p:sp>
          <p:nvSpPr>
            <p:cNvPr name="Freeform 11" id="11" descr="image.png"/>
            <p:cNvSpPr/>
            <p:nvPr/>
          </p:nvSpPr>
          <p:spPr>
            <a:xfrm flipH="false" flipV="false" rot="0">
              <a:off x="0" y="0"/>
              <a:ext cx="952500" cy="762000"/>
            </a:xfrm>
            <a:custGeom>
              <a:avLst/>
              <a:gdLst/>
              <a:ahLst/>
              <a:cxnLst/>
              <a:rect r="r" b="b" t="t" l="l"/>
              <a:pathLst>
                <a:path h="762000" w="952500">
                  <a:moveTo>
                    <a:pt x="0" y="0"/>
                  </a:moveTo>
                  <a:lnTo>
                    <a:pt x="952500" y="0"/>
                  </a:lnTo>
                  <a:lnTo>
                    <a:pt x="952500" y="762000"/>
                  </a:lnTo>
                  <a:lnTo>
                    <a:pt x="0" y="762000"/>
                  </a:lnTo>
                  <a:lnTo>
                    <a:pt x="0" y="0"/>
                  </a:lnTo>
                  <a:close/>
                </a:path>
              </a:pathLst>
            </a:custGeom>
            <a:blipFill>
              <a:blip r:embed="rId5"/>
              <a:stretch>
                <a:fillRect l="0" t="-1250" r="0" b="-1250"/>
              </a:stretch>
            </a:blipFill>
          </p:spPr>
        </p:sp>
      </p:grpSp>
      <p:sp>
        <p:nvSpPr>
          <p:cNvPr name="TextBox 12" id="12"/>
          <p:cNvSpPr txBox="true"/>
          <p:nvPr/>
        </p:nvSpPr>
        <p:spPr>
          <a:xfrm rot="0">
            <a:off x="1285875" y="4864894"/>
            <a:ext cx="4600413" cy="614362"/>
          </a:xfrm>
          <a:prstGeom prst="rect">
            <a:avLst/>
          </a:prstGeom>
        </p:spPr>
        <p:txBody>
          <a:bodyPr anchor="t" rtlCol="false" tIns="0" lIns="0" bIns="0" rIns="0">
            <a:spAutoFit/>
          </a:bodyPr>
          <a:lstStyle/>
          <a:p>
            <a:pPr algn="l">
              <a:lnSpc>
                <a:spcPts val="4320"/>
              </a:lnSpc>
            </a:pPr>
            <a:r>
              <a:rPr lang="en-US" sz="3600" b="true">
                <a:solidFill>
                  <a:srgbClr val="C04000"/>
                </a:solidFill>
                <a:latin typeface="Playfair Display Bold"/>
                <a:ea typeface="Playfair Display Bold"/>
                <a:cs typeface="Playfair Display Bold"/>
                <a:sym typeface="Playfair Display Bold"/>
              </a:rPr>
              <a:t>Phần I: Giới thiệu</a:t>
            </a:r>
          </a:p>
        </p:txBody>
      </p:sp>
      <p:sp>
        <p:nvSpPr>
          <p:cNvPr name="TextBox 13" id="13"/>
          <p:cNvSpPr txBox="true"/>
          <p:nvPr/>
        </p:nvSpPr>
        <p:spPr>
          <a:xfrm rot="0">
            <a:off x="1285875" y="5369719"/>
            <a:ext cx="4381348" cy="2152650"/>
          </a:xfrm>
          <a:prstGeom prst="rect">
            <a:avLst/>
          </a:prstGeom>
        </p:spPr>
        <p:txBody>
          <a:bodyPr anchor="t" rtlCol="false" tIns="0" lIns="0" bIns="0" rIns="0">
            <a:spAutoFit/>
          </a:bodyPr>
          <a:lstStyle/>
          <a:p>
            <a:pPr algn="l">
              <a:lnSpc>
                <a:spcPts val="4320"/>
              </a:lnSpc>
            </a:pPr>
            <a:r>
              <a:rPr lang="en-US" sz="2250">
                <a:solidFill>
                  <a:srgbClr val="334155"/>
                </a:solidFill>
                <a:latin typeface="Montserrat"/>
                <a:ea typeface="Montserrat"/>
                <a:cs typeface="Montserrat"/>
                <a:sym typeface="Montserrat"/>
              </a:rPr>
              <a:t>Tìm hiểu về cuộc đời, sự nghiệp văn học và phong cách nghệ thuật độc đáo của nhà văn Trần Duy Phiên.</a:t>
            </a:r>
          </a:p>
        </p:txBody>
      </p:sp>
      <p:grpSp>
        <p:nvGrpSpPr>
          <p:cNvPr name="Group 14" id="14"/>
          <p:cNvGrpSpPr/>
          <p:nvPr/>
        </p:nvGrpSpPr>
        <p:grpSpPr>
          <a:xfrm rot="0">
            <a:off x="6953098" y="4007644"/>
            <a:ext cx="642938" cy="571500"/>
            <a:chOff x="0" y="0"/>
            <a:chExt cx="857250" cy="762000"/>
          </a:xfrm>
        </p:grpSpPr>
        <p:sp>
          <p:nvSpPr>
            <p:cNvPr name="Freeform 15" id="15" descr="image.png"/>
            <p:cNvSpPr/>
            <p:nvPr/>
          </p:nvSpPr>
          <p:spPr>
            <a:xfrm flipH="false" flipV="false" rot="0">
              <a:off x="0" y="0"/>
              <a:ext cx="857250" cy="762000"/>
            </a:xfrm>
            <a:custGeom>
              <a:avLst/>
              <a:gdLst/>
              <a:ahLst/>
              <a:cxnLst/>
              <a:rect r="r" b="b" t="t" l="l"/>
              <a:pathLst>
                <a:path h="762000" w="857250">
                  <a:moveTo>
                    <a:pt x="0" y="0"/>
                  </a:moveTo>
                  <a:lnTo>
                    <a:pt x="857250" y="0"/>
                  </a:lnTo>
                  <a:lnTo>
                    <a:pt x="857250" y="762000"/>
                  </a:lnTo>
                  <a:lnTo>
                    <a:pt x="0" y="762000"/>
                  </a:lnTo>
                  <a:lnTo>
                    <a:pt x="0" y="0"/>
                  </a:lnTo>
                  <a:close/>
                </a:path>
              </a:pathLst>
            </a:custGeom>
            <a:blipFill>
              <a:blip r:embed="rId6"/>
              <a:stretch>
                <a:fillRect l="0" t="-136" r="0" b="-134"/>
              </a:stretch>
            </a:blipFill>
          </p:spPr>
        </p:sp>
      </p:grpSp>
      <p:sp>
        <p:nvSpPr>
          <p:cNvPr name="TextBox 16" id="16"/>
          <p:cNvSpPr txBox="true"/>
          <p:nvPr/>
        </p:nvSpPr>
        <p:spPr>
          <a:xfrm rot="0">
            <a:off x="6953098" y="4864894"/>
            <a:ext cx="4600651" cy="614362"/>
          </a:xfrm>
          <a:prstGeom prst="rect">
            <a:avLst/>
          </a:prstGeom>
        </p:spPr>
        <p:txBody>
          <a:bodyPr anchor="t" rtlCol="false" tIns="0" lIns="0" bIns="0" rIns="0">
            <a:spAutoFit/>
          </a:bodyPr>
          <a:lstStyle/>
          <a:p>
            <a:pPr algn="l">
              <a:lnSpc>
                <a:spcPts val="4320"/>
              </a:lnSpc>
            </a:pPr>
            <a:r>
              <a:rPr lang="en-US" sz="3600" b="true">
                <a:solidFill>
                  <a:srgbClr val="C04000"/>
                </a:solidFill>
                <a:latin typeface="Playfair Display Bold"/>
                <a:ea typeface="Playfair Display Bold"/>
                <a:cs typeface="Playfair Display Bold"/>
                <a:sym typeface="Playfair Display Bold"/>
              </a:rPr>
              <a:t>Phần II: Khám phá</a:t>
            </a:r>
          </a:p>
        </p:txBody>
      </p:sp>
      <p:sp>
        <p:nvSpPr>
          <p:cNvPr name="TextBox 17" id="17"/>
          <p:cNvSpPr txBox="true"/>
          <p:nvPr/>
        </p:nvSpPr>
        <p:spPr>
          <a:xfrm rot="0">
            <a:off x="6953098" y="5369719"/>
            <a:ext cx="4381576" cy="2289810"/>
          </a:xfrm>
          <a:prstGeom prst="rect">
            <a:avLst/>
          </a:prstGeom>
        </p:spPr>
        <p:txBody>
          <a:bodyPr anchor="t" rtlCol="false" tIns="0" lIns="0" bIns="0" rIns="0">
            <a:spAutoFit/>
          </a:bodyPr>
          <a:lstStyle/>
          <a:p>
            <a:pPr algn="l">
              <a:lnSpc>
                <a:spcPts val="4320"/>
              </a:lnSpc>
            </a:pPr>
            <a:r>
              <a:rPr lang="en-US" sz="2250">
                <a:solidFill>
                  <a:srgbClr val="334155"/>
                </a:solidFill>
                <a:latin typeface="Montserrat"/>
                <a:ea typeface="Montserrat"/>
                <a:cs typeface="Montserrat"/>
                <a:sym typeface="Montserrat"/>
              </a:rPr>
              <a:t>Phân tích cốt truyện, bố cục, hệ thống nhân vật, ngôi kể, điểm nhìn, nội dung trong truyện ngắn "Kiến và người".</a:t>
            </a:r>
          </a:p>
        </p:txBody>
      </p:sp>
      <p:grpSp>
        <p:nvGrpSpPr>
          <p:cNvPr name="Group 18" id="18"/>
          <p:cNvGrpSpPr/>
          <p:nvPr/>
        </p:nvGrpSpPr>
        <p:grpSpPr>
          <a:xfrm rot="0">
            <a:off x="12620549" y="4007644"/>
            <a:ext cx="428625" cy="571500"/>
            <a:chOff x="0" y="0"/>
            <a:chExt cx="571500" cy="762000"/>
          </a:xfrm>
        </p:grpSpPr>
        <p:sp>
          <p:nvSpPr>
            <p:cNvPr name="Freeform 19" id="19" descr="image.png"/>
            <p:cNvSpPr/>
            <p:nvPr/>
          </p:nvSpPr>
          <p:spPr>
            <a:xfrm flipH="false" flipV="false" rot="0">
              <a:off x="0" y="0"/>
              <a:ext cx="571500" cy="762000"/>
            </a:xfrm>
            <a:custGeom>
              <a:avLst/>
              <a:gdLst/>
              <a:ahLst/>
              <a:cxnLst/>
              <a:rect r="r" b="b" t="t" l="l"/>
              <a:pathLst>
                <a:path h="762000" w="571500">
                  <a:moveTo>
                    <a:pt x="0" y="0"/>
                  </a:moveTo>
                  <a:lnTo>
                    <a:pt x="571500" y="0"/>
                  </a:lnTo>
                  <a:lnTo>
                    <a:pt x="571500" y="762000"/>
                  </a:lnTo>
                  <a:lnTo>
                    <a:pt x="0" y="762000"/>
                  </a:lnTo>
                  <a:lnTo>
                    <a:pt x="0" y="0"/>
                  </a:lnTo>
                  <a:close/>
                </a:path>
              </a:pathLst>
            </a:custGeom>
            <a:blipFill>
              <a:blip r:embed="rId7"/>
              <a:stretch>
                <a:fillRect l="-406" t="0" r="-406" b="0"/>
              </a:stretch>
            </a:blipFill>
          </p:spPr>
        </p:sp>
      </p:grpSp>
      <p:sp>
        <p:nvSpPr>
          <p:cNvPr name="TextBox 20" id="20"/>
          <p:cNvSpPr txBox="true"/>
          <p:nvPr/>
        </p:nvSpPr>
        <p:spPr>
          <a:xfrm rot="0">
            <a:off x="12620549" y="4864894"/>
            <a:ext cx="4600413" cy="614362"/>
          </a:xfrm>
          <a:prstGeom prst="rect">
            <a:avLst/>
          </a:prstGeom>
        </p:spPr>
        <p:txBody>
          <a:bodyPr anchor="t" rtlCol="false" tIns="0" lIns="0" bIns="0" rIns="0">
            <a:spAutoFit/>
          </a:bodyPr>
          <a:lstStyle/>
          <a:p>
            <a:pPr algn="l">
              <a:lnSpc>
                <a:spcPts val="4320"/>
              </a:lnSpc>
            </a:pPr>
            <a:r>
              <a:rPr lang="en-US" sz="3600" b="true">
                <a:solidFill>
                  <a:srgbClr val="C04000"/>
                </a:solidFill>
                <a:latin typeface="Playfair Display Bold"/>
                <a:ea typeface="Playfair Display Bold"/>
                <a:cs typeface="Playfair Display Bold"/>
                <a:sym typeface="Playfair Display Bold"/>
              </a:rPr>
              <a:t>Phần III: Tổng kết</a:t>
            </a:r>
          </a:p>
        </p:txBody>
      </p:sp>
      <p:sp>
        <p:nvSpPr>
          <p:cNvPr name="TextBox 21" id="21"/>
          <p:cNvSpPr txBox="true"/>
          <p:nvPr/>
        </p:nvSpPr>
        <p:spPr>
          <a:xfrm rot="0">
            <a:off x="12620549" y="5369719"/>
            <a:ext cx="4381348" cy="2152650"/>
          </a:xfrm>
          <a:prstGeom prst="rect">
            <a:avLst/>
          </a:prstGeom>
        </p:spPr>
        <p:txBody>
          <a:bodyPr anchor="t" rtlCol="false" tIns="0" lIns="0" bIns="0" rIns="0">
            <a:spAutoFit/>
          </a:bodyPr>
          <a:lstStyle/>
          <a:p>
            <a:pPr algn="l">
              <a:lnSpc>
                <a:spcPts val="4320"/>
              </a:lnSpc>
            </a:pPr>
            <a:r>
              <a:rPr lang="en-US" sz="2250">
                <a:solidFill>
                  <a:srgbClr val="334155"/>
                </a:solidFill>
                <a:latin typeface="Montserrat"/>
                <a:ea typeface="Montserrat"/>
                <a:cs typeface="Montserrat"/>
                <a:sym typeface="Montserrat"/>
              </a:rPr>
              <a:t>Giải mã ý nghĩa hình tượng bầy kiến, nhan đề và rút ra thông điệp sâu sắc về môi trường.</a:t>
            </a:r>
          </a:p>
        </p:txBody>
      </p:sp>
      <p:sp>
        <p:nvSpPr>
          <p:cNvPr name="TextBox 22" id="22"/>
          <p:cNvSpPr txBox="true"/>
          <p:nvPr/>
        </p:nvSpPr>
        <p:spPr>
          <a:xfrm rot="0">
            <a:off x="1143000" y="857250"/>
            <a:ext cx="17102138" cy="914400"/>
          </a:xfrm>
          <a:prstGeom prst="rect">
            <a:avLst/>
          </a:prstGeom>
        </p:spPr>
        <p:txBody>
          <a:bodyPr anchor="t" rtlCol="false" tIns="0" lIns="0" bIns="0" rIns="0">
            <a:spAutoFit/>
          </a:bodyPr>
          <a:lstStyle/>
          <a:p>
            <a:pPr algn="l">
              <a:lnSpc>
                <a:spcPts val="6480"/>
              </a:lnSpc>
            </a:pPr>
            <a:r>
              <a:rPr lang="en-US" sz="5400" b="true">
                <a:solidFill>
                  <a:srgbClr val="2D5A27"/>
                </a:solidFill>
                <a:latin typeface="Playfair Display Bold"/>
                <a:ea typeface="Playfair Display Bold"/>
                <a:cs typeface="Playfair Display Bold"/>
                <a:sym typeface="Playfair Display Bold"/>
              </a:rPr>
              <a:t>NỘI DUNG BÀI HỌC</a:t>
            </a:r>
          </a:p>
        </p:txBody>
      </p:sp>
      <p:grpSp>
        <p:nvGrpSpPr>
          <p:cNvPr name="Group 23" id="23"/>
          <p:cNvGrpSpPr/>
          <p:nvPr/>
        </p:nvGrpSpPr>
        <p:grpSpPr>
          <a:xfrm rot="0">
            <a:off x="857250" y="857250"/>
            <a:ext cx="114300" cy="914400"/>
            <a:chOff x="0" y="0"/>
            <a:chExt cx="152400" cy="1219200"/>
          </a:xfrm>
        </p:grpSpPr>
        <p:sp>
          <p:nvSpPr>
            <p:cNvPr name="Freeform 24" id="24"/>
            <p:cNvSpPr/>
            <p:nvPr/>
          </p:nvSpPr>
          <p:spPr>
            <a:xfrm flipH="false" flipV="false" rot="0">
              <a:off x="0" y="0"/>
              <a:ext cx="152400" cy="1219200"/>
            </a:xfrm>
            <a:custGeom>
              <a:avLst/>
              <a:gdLst/>
              <a:ahLst/>
              <a:cxnLst/>
              <a:rect r="r" b="b" t="t" l="l"/>
              <a:pathLst>
                <a:path h="1219200" w="152400">
                  <a:moveTo>
                    <a:pt x="0" y="0"/>
                  </a:moveTo>
                  <a:lnTo>
                    <a:pt x="152400" y="0"/>
                  </a:lnTo>
                  <a:lnTo>
                    <a:pt x="152400" y="1219200"/>
                  </a:lnTo>
                  <a:lnTo>
                    <a:pt x="0" y="1219200"/>
                  </a:lnTo>
                  <a:close/>
                </a:path>
              </a:pathLst>
            </a:custGeom>
            <a:solidFill>
              <a:srgbClr val="C04000"/>
            </a:solid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9259" r="0" b="-9259"/>
              </a:stretch>
            </a:blipFill>
          </p:spPr>
        </p:sp>
      </p:grpSp>
      <p:grpSp>
        <p:nvGrpSpPr>
          <p:cNvPr name="Group 4" id="4"/>
          <p:cNvGrpSpPr/>
          <p:nvPr/>
        </p:nvGrpSpPr>
        <p:grpSpPr>
          <a:xfrm rot="0">
            <a:off x="857250" y="857250"/>
            <a:ext cx="114300" cy="914400"/>
            <a:chOff x="0" y="0"/>
            <a:chExt cx="152400" cy="1219200"/>
          </a:xfrm>
        </p:grpSpPr>
        <p:sp>
          <p:nvSpPr>
            <p:cNvPr name="Freeform 5" id="5"/>
            <p:cNvSpPr/>
            <p:nvPr/>
          </p:nvSpPr>
          <p:spPr>
            <a:xfrm flipH="false" flipV="false" rot="0">
              <a:off x="0" y="0"/>
              <a:ext cx="152400" cy="1219200"/>
            </a:xfrm>
            <a:custGeom>
              <a:avLst/>
              <a:gdLst/>
              <a:ahLst/>
              <a:cxnLst/>
              <a:rect r="r" b="b" t="t" l="l"/>
              <a:pathLst>
                <a:path h="1219200" w="152400">
                  <a:moveTo>
                    <a:pt x="0" y="0"/>
                  </a:moveTo>
                  <a:lnTo>
                    <a:pt x="152400" y="0"/>
                  </a:lnTo>
                  <a:lnTo>
                    <a:pt x="152400" y="1219200"/>
                  </a:lnTo>
                  <a:lnTo>
                    <a:pt x="0" y="1219200"/>
                  </a:lnTo>
                  <a:close/>
                </a:path>
              </a:pathLst>
            </a:custGeom>
            <a:solidFill>
              <a:srgbClr val="C04000"/>
            </a:solidFill>
          </p:spPr>
        </p:sp>
      </p:grpSp>
      <p:grpSp>
        <p:nvGrpSpPr>
          <p:cNvPr name="Group 6" id="6"/>
          <p:cNvGrpSpPr/>
          <p:nvPr/>
        </p:nvGrpSpPr>
        <p:grpSpPr>
          <a:xfrm rot="0">
            <a:off x="12415085" y="2636339"/>
            <a:ext cx="3487226" cy="5014322"/>
            <a:chOff x="0" y="0"/>
            <a:chExt cx="4649635" cy="6685763"/>
          </a:xfrm>
        </p:grpSpPr>
        <p:sp>
          <p:nvSpPr>
            <p:cNvPr name="Freeform 7" id="7"/>
            <p:cNvSpPr/>
            <p:nvPr/>
          </p:nvSpPr>
          <p:spPr>
            <a:xfrm flipH="false" flipV="false" rot="0">
              <a:off x="0" y="0"/>
              <a:ext cx="4649597" cy="6685788"/>
            </a:xfrm>
            <a:custGeom>
              <a:avLst/>
              <a:gdLst/>
              <a:ahLst/>
              <a:cxnLst/>
              <a:rect r="r" b="b" t="t" l="l"/>
              <a:pathLst>
                <a:path h="6685788" w="4649597">
                  <a:moveTo>
                    <a:pt x="0" y="0"/>
                  </a:moveTo>
                  <a:lnTo>
                    <a:pt x="4649597" y="0"/>
                  </a:lnTo>
                  <a:lnTo>
                    <a:pt x="4649597" y="6685788"/>
                  </a:lnTo>
                  <a:lnTo>
                    <a:pt x="0" y="6685788"/>
                  </a:lnTo>
                  <a:lnTo>
                    <a:pt x="0" y="0"/>
                  </a:lnTo>
                  <a:close/>
                </a:path>
              </a:pathLst>
            </a:custGeom>
            <a:blipFill>
              <a:blip r:embed="rId3"/>
              <a:stretch>
                <a:fillRect l="0" t="0" r="0" b="0"/>
              </a:stretch>
            </a:blipFill>
          </p:spPr>
        </p:sp>
      </p:grpSp>
      <p:sp>
        <p:nvSpPr>
          <p:cNvPr name="TextBox 8" id="8"/>
          <p:cNvSpPr txBox="true"/>
          <p:nvPr/>
        </p:nvSpPr>
        <p:spPr>
          <a:xfrm rot="0">
            <a:off x="1793081" y="2293439"/>
            <a:ext cx="9801320" cy="1347978"/>
          </a:xfrm>
          <a:prstGeom prst="rect">
            <a:avLst/>
          </a:prstGeom>
        </p:spPr>
        <p:txBody>
          <a:bodyPr anchor="t" rtlCol="false" tIns="0" lIns="0" bIns="0" rIns="0">
            <a:spAutoFit/>
          </a:bodyPr>
          <a:lstStyle/>
          <a:p>
            <a:pPr algn="l">
              <a:lnSpc>
                <a:spcPts val="4895"/>
              </a:lnSpc>
            </a:pPr>
            <a:r>
              <a:rPr lang="en-US" sz="2549" b="true">
                <a:solidFill>
                  <a:srgbClr val="2D5A27"/>
                </a:solidFill>
                <a:latin typeface="Montserrat Bold"/>
                <a:ea typeface="Montserrat Bold"/>
                <a:cs typeface="Montserrat Bold"/>
                <a:sym typeface="Montserrat Bold"/>
              </a:rPr>
              <a:t>Đặc điểm nghệ thuật:</a:t>
            </a:r>
            <a:r>
              <a:rPr lang="en-US" sz="2549" b="true">
                <a:solidFill>
                  <a:srgbClr val="334155"/>
                </a:solidFill>
                <a:latin typeface="Montserrat Bold"/>
                <a:ea typeface="Montserrat Bold"/>
                <a:cs typeface="Montserrat Bold"/>
                <a:sym typeface="Montserrat Bold"/>
              </a:rPr>
              <a:t> </a:t>
            </a:r>
            <a:r>
              <a:rPr lang="en-US" sz="2549">
                <a:solidFill>
                  <a:srgbClr val="334155"/>
                </a:solidFill>
                <a:latin typeface="Montserrat"/>
                <a:ea typeface="Montserrat"/>
                <a:cs typeface="Montserrat"/>
                <a:sym typeface="Montserrat"/>
              </a:rPr>
              <a:t>Ngòi bút của ông kết hợp giữa sự </a:t>
            </a:r>
            <a:r>
              <a:rPr lang="en-US" sz="2549">
                <a:solidFill>
                  <a:srgbClr val="2D5A27"/>
                </a:solidFill>
                <a:latin typeface="Montserrat"/>
                <a:ea typeface="Montserrat"/>
                <a:cs typeface="Montserrat"/>
                <a:sym typeface="Montserrat"/>
              </a:rPr>
              <a:t>xông xáo</a:t>
            </a:r>
            <a:r>
              <a:rPr lang="en-US" sz="2549">
                <a:solidFill>
                  <a:srgbClr val="334155"/>
                </a:solidFill>
                <a:latin typeface="Montserrat"/>
                <a:ea typeface="Montserrat"/>
                <a:cs typeface="Montserrat"/>
                <a:sym typeface="Montserrat"/>
              </a:rPr>
              <a:t> (mạnh mẽ, quyết liệt) và sự </a:t>
            </a:r>
            <a:r>
              <a:rPr lang="en-US" sz="2549">
                <a:solidFill>
                  <a:srgbClr val="2D5A27"/>
                </a:solidFill>
                <a:latin typeface="Montserrat"/>
                <a:ea typeface="Montserrat"/>
                <a:cs typeface="Montserrat"/>
                <a:sym typeface="Montserrat"/>
              </a:rPr>
              <a:t>lãng mạn</a:t>
            </a:r>
            <a:r>
              <a:rPr lang="en-US" sz="2549">
                <a:solidFill>
                  <a:srgbClr val="334155"/>
                </a:solidFill>
                <a:latin typeface="Montserrat"/>
                <a:ea typeface="Montserrat"/>
                <a:cs typeface="Montserrat"/>
                <a:sym typeface="Montserrat"/>
              </a:rPr>
              <a:t>.</a:t>
            </a:r>
          </a:p>
        </p:txBody>
      </p:sp>
      <p:sp>
        <p:nvSpPr>
          <p:cNvPr name="TextBox 9" id="9"/>
          <p:cNvSpPr txBox="true"/>
          <p:nvPr/>
        </p:nvSpPr>
        <p:spPr>
          <a:xfrm rot="0">
            <a:off x="1793081" y="3457575"/>
            <a:ext cx="9801320" cy="1347978"/>
          </a:xfrm>
          <a:prstGeom prst="rect">
            <a:avLst/>
          </a:prstGeom>
        </p:spPr>
        <p:txBody>
          <a:bodyPr anchor="t" rtlCol="false" tIns="0" lIns="0" bIns="0" rIns="0">
            <a:spAutoFit/>
          </a:bodyPr>
          <a:lstStyle/>
          <a:p>
            <a:pPr algn="l">
              <a:lnSpc>
                <a:spcPts val="4895"/>
              </a:lnSpc>
            </a:pPr>
            <a:r>
              <a:rPr lang="en-US" sz="2549" b="true">
                <a:solidFill>
                  <a:srgbClr val="2D5A27"/>
                </a:solidFill>
                <a:latin typeface="Montserrat Bold"/>
                <a:ea typeface="Montserrat Bold"/>
                <a:cs typeface="Montserrat Bold"/>
                <a:sym typeface="Montserrat Bold"/>
              </a:rPr>
              <a:t>Tiểu sử:</a:t>
            </a:r>
            <a:r>
              <a:rPr lang="en-US" sz="2549">
                <a:solidFill>
                  <a:srgbClr val="334155"/>
                </a:solidFill>
                <a:latin typeface="Montserrat"/>
                <a:ea typeface="Montserrat"/>
                <a:cs typeface="Montserrat"/>
                <a:sym typeface="Montserrat"/>
              </a:rPr>
              <a:t> Ông sinh năm 1942 tại Thừa Thiên Huế, là gương mặt nổi bật của văn học miền Nam trước 1975.</a:t>
            </a:r>
          </a:p>
        </p:txBody>
      </p:sp>
      <p:sp>
        <p:nvSpPr>
          <p:cNvPr name="TextBox 10" id="10"/>
          <p:cNvSpPr txBox="true"/>
          <p:nvPr/>
        </p:nvSpPr>
        <p:spPr>
          <a:xfrm rot="0">
            <a:off x="1793081" y="4657725"/>
            <a:ext cx="9801320" cy="1347978"/>
          </a:xfrm>
          <a:prstGeom prst="rect">
            <a:avLst/>
          </a:prstGeom>
        </p:spPr>
        <p:txBody>
          <a:bodyPr anchor="t" rtlCol="false" tIns="0" lIns="0" bIns="0" rIns="0">
            <a:spAutoFit/>
          </a:bodyPr>
          <a:lstStyle/>
          <a:p>
            <a:pPr algn="l">
              <a:lnSpc>
                <a:spcPts val="4895"/>
              </a:lnSpc>
            </a:pPr>
            <a:r>
              <a:rPr lang="en-US" sz="2549">
                <a:solidFill>
                  <a:srgbClr val="334155"/>
                </a:solidFill>
                <a:latin typeface="Montserrat"/>
                <a:ea typeface="Montserrat"/>
                <a:cs typeface="Montserrat"/>
                <a:sym typeface="Montserrat"/>
              </a:rPr>
              <a:t>Tư tưởng nghệ thuật này thấm đẫm trong cả truyện ngắn lẫn thơ ca, thể hiện cái nhìn sâu sắc về con người và thời đại.</a:t>
            </a:r>
          </a:p>
        </p:txBody>
      </p:sp>
      <p:sp>
        <p:nvSpPr>
          <p:cNvPr name="TextBox 11" id="11"/>
          <p:cNvSpPr txBox="true"/>
          <p:nvPr/>
        </p:nvSpPr>
        <p:spPr>
          <a:xfrm rot="0">
            <a:off x="1143000" y="857250"/>
            <a:ext cx="17102138" cy="914400"/>
          </a:xfrm>
          <a:prstGeom prst="rect">
            <a:avLst/>
          </a:prstGeom>
        </p:spPr>
        <p:txBody>
          <a:bodyPr anchor="t" rtlCol="false" tIns="0" lIns="0" bIns="0" rIns="0">
            <a:spAutoFit/>
          </a:bodyPr>
          <a:lstStyle/>
          <a:p>
            <a:pPr algn="l">
              <a:lnSpc>
                <a:spcPts val="6480"/>
              </a:lnSpc>
            </a:pPr>
            <a:r>
              <a:rPr lang="en-US" sz="5400" b="true">
                <a:solidFill>
                  <a:srgbClr val="2D5A27"/>
                </a:solidFill>
                <a:latin typeface="Playfair Display Bold"/>
                <a:ea typeface="Playfair Display Bold"/>
                <a:cs typeface="Playfair Display Bold"/>
                <a:sym typeface="Playfair Display Bold"/>
              </a:rPr>
              <a:t>TÁC GIẢ TRẦN DUY PHIÊN</a:t>
            </a:r>
          </a:p>
        </p:txBody>
      </p:sp>
      <p:sp>
        <p:nvSpPr>
          <p:cNvPr name="TextBox 12" id="12"/>
          <p:cNvSpPr txBox="true"/>
          <p:nvPr/>
        </p:nvSpPr>
        <p:spPr>
          <a:xfrm rot="0">
            <a:off x="1793081" y="6417974"/>
            <a:ext cx="7350919" cy="542925"/>
          </a:xfrm>
          <a:prstGeom prst="rect">
            <a:avLst/>
          </a:prstGeom>
        </p:spPr>
        <p:txBody>
          <a:bodyPr anchor="t" rtlCol="false" tIns="0" lIns="0" bIns="0" rIns="0">
            <a:spAutoFit/>
          </a:bodyPr>
          <a:lstStyle/>
          <a:p>
            <a:pPr algn="l">
              <a:lnSpc>
                <a:spcPts val="4320"/>
              </a:lnSpc>
            </a:pPr>
            <a:r>
              <a:rPr lang="en-US" sz="3600" b="true">
                <a:solidFill>
                  <a:srgbClr val="C04000"/>
                </a:solidFill>
                <a:latin typeface="Playfair Display Bold"/>
                <a:ea typeface="Playfair Display Bold"/>
                <a:cs typeface="Playfair Display Bold"/>
                <a:sym typeface="Playfair Display Bold"/>
              </a:rPr>
              <a:t>Tác phẩm chính</a:t>
            </a:r>
          </a:p>
        </p:txBody>
      </p:sp>
      <p:sp>
        <p:nvSpPr>
          <p:cNvPr name="TextBox 13" id="13"/>
          <p:cNvSpPr txBox="true"/>
          <p:nvPr/>
        </p:nvSpPr>
        <p:spPr>
          <a:xfrm rot="0">
            <a:off x="1793081" y="6903749"/>
            <a:ext cx="7000875" cy="728853"/>
          </a:xfrm>
          <a:prstGeom prst="rect">
            <a:avLst/>
          </a:prstGeom>
        </p:spPr>
        <p:txBody>
          <a:bodyPr anchor="t" rtlCol="false" tIns="0" lIns="0" bIns="0" rIns="0">
            <a:spAutoFit/>
          </a:bodyPr>
          <a:lstStyle/>
          <a:p>
            <a:pPr algn="l">
              <a:lnSpc>
                <a:spcPts val="4895"/>
              </a:lnSpc>
            </a:pPr>
            <a:r>
              <a:rPr lang="en-US" sz="2549">
                <a:solidFill>
                  <a:srgbClr val="E0E4EA"/>
                </a:solidFill>
                <a:latin typeface="Montserrat"/>
                <a:ea typeface="Montserrat"/>
                <a:cs typeface="Montserrat"/>
                <a:sym typeface="Montserrat"/>
              </a:rPr>
              <a:t>• Đốt lửa sau mây (1969)</a:t>
            </a:r>
          </a:p>
        </p:txBody>
      </p:sp>
      <p:sp>
        <p:nvSpPr>
          <p:cNvPr name="TextBox 14" id="14"/>
          <p:cNvSpPr txBox="true"/>
          <p:nvPr/>
        </p:nvSpPr>
        <p:spPr>
          <a:xfrm rot="0">
            <a:off x="1793081" y="7532399"/>
            <a:ext cx="7000875" cy="728853"/>
          </a:xfrm>
          <a:prstGeom prst="rect">
            <a:avLst/>
          </a:prstGeom>
        </p:spPr>
        <p:txBody>
          <a:bodyPr anchor="t" rtlCol="false" tIns="0" lIns="0" bIns="0" rIns="0">
            <a:spAutoFit/>
          </a:bodyPr>
          <a:lstStyle/>
          <a:p>
            <a:pPr algn="l">
              <a:lnSpc>
                <a:spcPts val="4895"/>
              </a:lnSpc>
            </a:pPr>
            <a:r>
              <a:rPr lang="en-US" sz="2549">
                <a:solidFill>
                  <a:srgbClr val="E0E4EA"/>
                </a:solidFill>
                <a:latin typeface="Montserrat"/>
                <a:ea typeface="Montserrat"/>
                <a:cs typeface="Montserrat"/>
                <a:sym typeface="Montserrat"/>
              </a:rPr>
              <a:t>• Trước khi mặt trời mọc (1972)</a:t>
            </a:r>
          </a:p>
        </p:txBody>
      </p:sp>
      <p:sp>
        <p:nvSpPr>
          <p:cNvPr name="TextBox 15" id="15"/>
          <p:cNvSpPr txBox="true"/>
          <p:nvPr/>
        </p:nvSpPr>
        <p:spPr>
          <a:xfrm rot="0">
            <a:off x="1793081" y="8161049"/>
            <a:ext cx="7000875" cy="728853"/>
          </a:xfrm>
          <a:prstGeom prst="rect">
            <a:avLst/>
          </a:prstGeom>
        </p:spPr>
        <p:txBody>
          <a:bodyPr anchor="t" rtlCol="false" tIns="0" lIns="0" bIns="0" rIns="0">
            <a:spAutoFit/>
          </a:bodyPr>
          <a:lstStyle/>
          <a:p>
            <a:pPr algn="l">
              <a:lnSpc>
                <a:spcPts val="4895"/>
              </a:lnSpc>
            </a:pPr>
            <a:r>
              <a:rPr lang="en-US" sz="2549">
                <a:solidFill>
                  <a:srgbClr val="E0E4EA"/>
                </a:solidFill>
                <a:latin typeface="Montserrat"/>
                <a:ea typeface="Montserrat"/>
                <a:cs typeface="Montserrat"/>
                <a:sym typeface="Montserrat"/>
              </a:rPr>
              <a:t>• Trăm năm còn lại (1996)</a:t>
            </a:r>
          </a:p>
        </p:txBody>
      </p:sp>
      <p:sp>
        <p:nvSpPr>
          <p:cNvPr name="TextBox 16" id="16"/>
          <p:cNvSpPr txBox="true"/>
          <p:nvPr/>
        </p:nvSpPr>
        <p:spPr>
          <a:xfrm rot="0">
            <a:off x="1793081" y="8789699"/>
            <a:ext cx="7000875" cy="728853"/>
          </a:xfrm>
          <a:prstGeom prst="rect">
            <a:avLst/>
          </a:prstGeom>
        </p:spPr>
        <p:txBody>
          <a:bodyPr anchor="t" rtlCol="false" tIns="0" lIns="0" bIns="0" rIns="0">
            <a:spAutoFit/>
          </a:bodyPr>
          <a:lstStyle/>
          <a:p>
            <a:pPr algn="l">
              <a:lnSpc>
                <a:spcPts val="4895"/>
              </a:lnSpc>
            </a:pPr>
            <a:r>
              <a:rPr lang="en-US" sz="2549">
                <a:solidFill>
                  <a:srgbClr val="E0E4EA"/>
                </a:solidFill>
                <a:latin typeface="Montserrat"/>
                <a:ea typeface="Montserrat"/>
                <a:cs typeface="Montserrat"/>
                <a:sym typeface="Montserrat"/>
              </a:rPr>
              <a:t>• Ngược dòng phù hoa (1997)</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9259" r="0" b="-9259"/>
              </a:stretch>
            </a:blipFill>
          </p:spPr>
        </p:sp>
      </p:grpSp>
      <p:grpSp>
        <p:nvGrpSpPr>
          <p:cNvPr name="Group 4" id="4"/>
          <p:cNvGrpSpPr/>
          <p:nvPr/>
        </p:nvGrpSpPr>
        <p:grpSpPr>
          <a:xfrm rot="0">
            <a:off x="1131208" y="2816990"/>
            <a:ext cx="7858125" cy="4843462"/>
            <a:chOff x="0" y="0"/>
            <a:chExt cx="10477500" cy="6457950"/>
          </a:xfrm>
        </p:grpSpPr>
        <p:sp>
          <p:nvSpPr>
            <p:cNvPr name="Freeform 5" id="5" descr="image.png"/>
            <p:cNvSpPr/>
            <p:nvPr/>
          </p:nvSpPr>
          <p:spPr>
            <a:xfrm flipH="false" flipV="false" rot="0">
              <a:off x="0" y="0"/>
              <a:ext cx="10477500" cy="6457950"/>
            </a:xfrm>
            <a:custGeom>
              <a:avLst/>
              <a:gdLst/>
              <a:ahLst/>
              <a:cxnLst/>
              <a:rect r="r" b="b" t="t" l="l"/>
              <a:pathLst>
                <a:path h="6457950" w="10477500">
                  <a:moveTo>
                    <a:pt x="0" y="0"/>
                  </a:moveTo>
                  <a:lnTo>
                    <a:pt x="10477500" y="0"/>
                  </a:lnTo>
                  <a:lnTo>
                    <a:pt x="10477500" y="6457950"/>
                  </a:lnTo>
                  <a:lnTo>
                    <a:pt x="0" y="6457950"/>
                  </a:lnTo>
                  <a:lnTo>
                    <a:pt x="0" y="0"/>
                  </a:lnTo>
                  <a:close/>
                </a:path>
              </a:pathLst>
            </a:custGeom>
            <a:blipFill>
              <a:blip r:embed="rId3"/>
              <a:stretch>
                <a:fillRect l="0" t="-147" r="0" b="-147"/>
              </a:stretch>
            </a:blipFill>
          </p:spPr>
        </p:sp>
      </p:grpSp>
      <p:grpSp>
        <p:nvGrpSpPr>
          <p:cNvPr name="Group 6" id="6"/>
          <p:cNvGrpSpPr/>
          <p:nvPr/>
        </p:nvGrpSpPr>
        <p:grpSpPr>
          <a:xfrm rot="0">
            <a:off x="857250" y="857250"/>
            <a:ext cx="114300" cy="914400"/>
            <a:chOff x="0" y="0"/>
            <a:chExt cx="152400" cy="1219200"/>
          </a:xfrm>
        </p:grpSpPr>
        <p:sp>
          <p:nvSpPr>
            <p:cNvPr name="Freeform 7" id="7"/>
            <p:cNvSpPr/>
            <p:nvPr/>
          </p:nvSpPr>
          <p:spPr>
            <a:xfrm flipH="false" flipV="false" rot="0">
              <a:off x="0" y="0"/>
              <a:ext cx="152400" cy="1219200"/>
            </a:xfrm>
            <a:custGeom>
              <a:avLst/>
              <a:gdLst/>
              <a:ahLst/>
              <a:cxnLst/>
              <a:rect r="r" b="b" t="t" l="l"/>
              <a:pathLst>
                <a:path h="1219200" w="152400">
                  <a:moveTo>
                    <a:pt x="0" y="0"/>
                  </a:moveTo>
                  <a:lnTo>
                    <a:pt x="152400" y="0"/>
                  </a:lnTo>
                  <a:lnTo>
                    <a:pt x="152400" y="1219200"/>
                  </a:lnTo>
                  <a:lnTo>
                    <a:pt x="0" y="1219200"/>
                  </a:lnTo>
                  <a:close/>
                </a:path>
              </a:pathLst>
            </a:custGeom>
            <a:solidFill>
              <a:srgbClr val="C04000"/>
            </a:solidFill>
          </p:spPr>
        </p:sp>
      </p:grpSp>
      <p:grpSp>
        <p:nvGrpSpPr>
          <p:cNvPr name="Group 8" id="8"/>
          <p:cNvGrpSpPr/>
          <p:nvPr/>
        </p:nvGrpSpPr>
        <p:grpSpPr>
          <a:xfrm rot="0">
            <a:off x="10729770" y="2661133"/>
            <a:ext cx="6732499" cy="5155178"/>
            <a:chOff x="0" y="0"/>
            <a:chExt cx="8976665" cy="6873570"/>
          </a:xfrm>
        </p:grpSpPr>
        <p:sp>
          <p:nvSpPr>
            <p:cNvPr name="Freeform 9" id="9"/>
            <p:cNvSpPr/>
            <p:nvPr/>
          </p:nvSpPr>
          <p:spPr>
            <a:xfrm flipH="false" flipV="false" rot="0">
              <a:off x="0" y="0"/>
              <a:ext cx="8976614" cy="6873621"/>
            </a:xfrm>
            <a:custGeom>
              <a:avLst/>
              <a:gdLst/>
              <a:ahLst/>
              <a:cxnLst/>
              <a:rect r="r" b="b" t="t" l="l"/>
              <a:pathLst>
                <a:path h="6873621" w="8976614">
                  <a:moveTo>
                    <a:pt x="0" y="0"/>
                  </a:moveTo>
                  <a:lnTo>
                    <a:pt x="8976614" y="0"/>
                  </a:lnTo>
                  <a:lnTo>
                    <a:pt x="8976614" y="6873621"/>
                  </a:lnTo>
                  <a:lnTo>
                    <a:pt x="0" y="6873621"/>
                  </a:lnTo>
                  <a:lnTo>
                    <a:pt x="0" y="0"/>
                  </a:lnTo>
                  <a:close/>
                </a:path>
              </a:pathLst>
            </a:custGeom>
            <a:blipFill>
              <a:blip r:embed="rId4"/>
              <a:stretch>
                <a:fillRect l="0" t="0" r="0" b="0"/>
              </a:stretch>
            </a:blipFill>
          </p:spPr>
        </p:sp>
      </p:grpSp>
      <p:sp>
        <p:nvSpPr>
          <p:cNvPr name="TextBox 10" id="10"/>
          <p:cNvSpPr txBox="true"/>
          <p:nvPr/>
        </p:nvSpPr>
        <p:spPr>
          <a:xfrm rot="0">
            <a:off x="1559833" y="3245615"/>
            <a:ext cx="7350919" cy="614362"/>
          </a:xfrm>
          <a:prstGeom prst="rect">
            <a:avLst/>
          </a:prstGeom>
        </p:spPr>
        <p:txBody>
          <a:bodyPr anchor="t" rtlCol="false" tIns="0" lIns="0" bIns="0" rIns="0">
            <a:spAutoFit/>
          </a:bodyPr>
          <a:lstStyle/>
          <a:p>
            <a:pPr algn="l">
              <a:lnSpc>
                <a:spcPts val="4320"/>
              </a:lnSpc>
            </a:pPr>
            <a:r>
              <a:rPr lang="en-US" sz="3600" b="true">
                <a:solidFill>
                  <a:srgbClr val="C04000"/>
                </a:solidFill>
                <a:latin typeface="Playfair Display Bold"/>
                <a:ea typeface="Playfair Display Bold"/>
                <a:cs typeface="Playfair Display Bold"/>
                <a:sym typeface="Playfair Display Bold"/>
              </a:rPr>
              <a:t>Bố cục văn bản</a:t>
            </a:r>
          </a:p>
        </p:txBody>
      </p:sp>
      <p:sp>
        <p:nvSpPr>
          <p:cNvPr name="TextBox 11" id="11"/>
          <p:cNvSpPr txBox="true"/>
          <p:nvPr/>
        </p:nvSpPr>
        <p:spPr>
          <a:xfrm rot="0">
            <a:off x="1559833" y="3750440"/>
            <a:ext cx="7000875" cy="1695450"/>
          </a:xfrm>
          <a:prstGeom prst="rect">
            <a:avLst/>
          </a:prstGeom>
        </p:spPr>
        <p:txBody>
          <a:bodyPr anchor="t" rtlCol="false" tIns="0" lIns="0" bIns="0" rIns="0">
            <a:spAutoFit/>
          </a:bodyPr>
          <a:lstStyle/>
          <a:p>
            <a:pPr algn="l">
              <a:lnSpc>
                <a:spcPts val="4320"/>
              </a:lnSpc>
            </a:pPr>
            <a:r>
              <a:rPr lang="en-US" sz="2250" b="true">
                <a:solidFill>
                  <a:srgbClr val="2D5A27"/>
                </a:solidFill>
                <a:latin typeface="Montserrat Bold"/>
                <a:ea typeface="Montserrat Bold"/>
                <a:cs typeface="Montserrat Bold"/>
                <a:sym typeface="Montserrat Bold"/>
              </a:rPr>
              <a:t>Phần 1:</a:t>
            </a:r>
            <a:r>
              <a:rPr lang="en-US" sz="2250">
                <a:solidFill>
                  <a:srgbClr val="334155"/>
                </a:solidFill>
                <a:latin typeface="Montserrat"/>
                <a:ea typeface="Montserrat"/>
                <a:cs typeface="Montserrat"/>
                <a:sym typeface="Montserrat"/>
              </a:rPr>
              <a:t> Từ đầu đến "về hướng thị xã". Tập trung vào cuộc đấu tranh sinh tồn quyết liệt giữa gia đình và đàn kiến.</a:t>
            </a:r>
          </a:p>
        </p:txBody>
      </p:sp>
      <p:sp>
        <p:nvSpPr>
          <p:cNvPr name="TextBox 12" id="12"/>
          <p:cNvSpPr txBox="true"/>
          <p:nvPr/>
        </p:nvSpPr>
        <p:spPr>
          <a:xfrm rot="0">
            <a:off x="1559833" y="5293490"/>
            <a:ext cx="7000875" cy="1746885"/>
          </a:xfrm>
          <a:prstGeom prst="rect">
            <a:avLst/>
          </a:prstGeom>
        </p:spPr>
        <p:txBody>
          <a:bodyPr anchor="t" rtlCol="false" tIns="0" lIns="0" bIns="0" rIns="0">
            <a:spAutoFit/>
          </a:bodyPr>
          <a:lstStyle/>
          <a:p>
            <a:pPr algn="l">
              <a:lnSpc>
                <a:spcPts val="4320"/>
              </a:lnSpc>
            </a:pPr>
            <a:r>
              <a:rPr lang="en-US" sz="2250" b="true">
                <a:solidFill>
                  <a:srgbClr val="2D5A27"/>
                </a:solidFill>
                <a:latin typeface="Montserrat Bold"/>
                <a:ea typeface="Montserrat Bold"/>
                <a:cs typeface="Montserrat Bold"/>
                <a:sym typeface="Montserrat Bold"/>
              </a:rPr>
              <a:t>Phần 2:</a:t>
            </a:r>
            <a:r>
              <a:rPr lang="en-US" sz="2250">
                <a:solidFill>
                  <a:srgbClr val="334155"/>
                </a:solidFill>
                <a:latin typeface="Montserrat"/>
                <a:ea typeface="Montserrat"/>
                <a:cs typeface="Montserrat"/>
                <a:sym typeface="Montserrat"/>
              </a:rPr>
              <a:t> Phần còn lại của văn bản. Khung cảnh hoang tàn sau cuộc chiến và những chiêm nghiệm, bài học sâu sắc về quy luật tự nhiên.</a:t>
            </a:r>
          </a:p>
        </p:txBody>
      </p:sp>
      <p:sp>
        <p:nvSpPr>
          <p:cNvPr name="TextBox 13" id="13"/>
          <p:cNvSpPr txBox="true"/>
          <p:nvPr/>
        </p:nvSpPr>
        <p:spPr>
          <a:xfrm rot="0">
            <a:off x="1143000" y="857250"/>
            <a:ext cx="17102138" cy="914400"/>
          </a:xfrm>
          <a:prstGeom prst="rect">
            <a:avLst/>
          </a:prstGeom>
        </p:spPr>
        <p:txBody>
          <a:bodyPr anchor="t" rtlCol="false" tIns="0" lIns="0" bIns="0" rIns="0">
            <a:spAutoFit/>
          </a:bodyPr>
          <a:lstStyle/>
          <a:p>
            <a:pPr algn="l">
              <a:lnSpc>
                <a:spcPts val="6480"/>
              </a:lnSpc>
            </a:pPr>
            <a:r>
              <a:rPr lang="en-US" sz="5400" b="true">
                <a:solidFill>
                  <a:srgbClr val="2D5A27"/>
                </a:solidFill>
                <a:latin typeface="Playfair Display Bold"/>
                <a:ea typeface="Playfair Display Bold"/>
                <a:cs typeface="Playfair Display Bold"/>
                <a:sym typeface="Playfair Display Bold"/>
              </a:rPr>
              <a:t>TÁC PHẨM &amp; BỐ CỤC</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9259" r="0" b="-9259"/>
              </a:stretch>
            </a:blipFill>
          </p:spPr>
        </p:sp>
      </p:grpSp>
      <p:grpSp>
        <p:nvGrpSpPr>
          <p:cNvPr name="Group 4" id="4"/>
          <p:cNvGrpSpPr/>
          <p:nvPr/>
        </p:nvGrpSpPr>
        <p:grpSpPr>
          <a:xfrm rot="0">
            <a:off x="9572625" y="2671762"/>
            <a:ext cx="7858125" cy="6429375"/>
            <a:chOff x="0" y="0"/>
            <a:chExt cx="10477500" cy="8572500"/>
          </a:xfrm>
        </p:grpSpPr>
        <p:sp>
          <p:nvSpPr>
            <p:cNvPr name="Freeform 5" id="5" descr="image.png"/>
            <p:cNvSpPr/>
            <p:nvPr/>
          </p:nvSpPr>
          <p:spPr>
            <a:xfrm flipH="false" flipV="false" rot="0">
              <a:off x="0" y="0"/>
              <a:ext cx="10477500" cy="8572500"/>
            </a:xfrm>
            <a:custGeom>
              <a:avLst/>
              <a:gdLst/>
              <a:ahLst/>
              <a:cxnLst/>
              <a:rect r="r" b="b" t="t" l="l"/>
              <a:pathLst>
                <a:path h="8572500" w="10477500">
                  <a:moveTo>
                    <a:pt x="0" y="0"/>
                  </a:moveTo>
                  <a:lnTo>
                    <a:pt x="10477500" y="0"/>
                  </a:lnTo>
                  <a:lnTo>
                    <a:pt x="10477500" y="8572500"/>
                  </a:lnTo>
                  <a:lnTo>
                    <a:pt x="0" y="8572500"/>
                  </a:lnTo>
                  <a:lnTo>
                    <a:pt x="0" y="0"/>
                  </a:lnTo>
                  <a:close/>
                </a:path>
              </a:pathLst>
            </a:custGeom>
            <a:blipFill>
              <a:blip r:embed="rId3"/>
              <a:stretch>
                <a:fillRect l="0" t="0" r="0" b="0"/>
              </a:stretch>
            </a:blipFill>
          </p:spPr>
        </p:sp>
      </p:grpSp>
      <p:grpSp>
        <p:nvGrpSpPr>
          <p:cNvPr name="Group 6" id="6"/>
          <p:cNvGrpSpPr/>
          <p:nvPr/>
        </p:nvGrpSpPr>
        <p:grpSpPr>
          <a:xfrm rot="0">
            <a:off x="9572625" y="2671762"/>
            <a:ext cx="7858125" cy="5698065"/>
            <a:chOff x="0" y="0"/>
            <a:chExt cx="10477500" cy="7597419"/>
          </a:xfrm>
        </p:grpSpPr>
        <p:sp>
          <p:nvSpPr>
            <p:cNvPr name="Freeform 7" id="7" descr="image.png"/>
            <p:cNvSpPr/>
            <p:nvPr/>
          </p:nvSpPr>
          <p:spPr>
            <a:xfrm flipH="false" flipV="false" rot="0">
              <a:off x="0" y="0"/>
              <a:ext cx="10477500" cy="7597394"/>
            </a:xfrm>
            <a:custGeom>
              <a:avLst/>
              <a:gdLst/>
              <a:ahLst/>
              <a:cxnLst/>
              <a:rect r="r" b="b" t="t" l="l"/>
              <a:pathLst>
                <a:path h="7597394" w="10477500">
                  <a:moveTo>
                    <a:pt x="0" y="0"/>
                  </a:moveTo>
                  <a:lnTo>
                    <a:pt x="10477500" y="0"/>
                  </a:lnTo>
                  <a:lnTo>
                    <a:pt x="10477500" y="7597394"/>
                  </a:lnTo>
                  <a:lnTo>
                    <a:pt x="0" y="7597394"/>
                  </a:lnTo>
                  <a:lnTo>
                    <a:pt x="0" y="0"/>
                  </a:lnTo>
                  <a:close/>
                </a:path>
              </a:pathLst>
            </a:custGeom>
            <a:blipFill>
              <a:blip r:embed="rId4"/>
              <a:stretch>
                <a:fillRect l="0" t="-6417" r="0" b="-6417"/>
              </a:stretch>
            </a:blipFill>
          </p:spPr>
        </p:sp>
      </p:grpSp>
      <p:grpSp>
        <p:nvGrpSpPr>
          <p:cNvPr name="Group 8" id="8"/>
          <p:cNvGrpSpPr/>
          <p:nvPr/>
        </p:nvGrpSpPr>
        <p:grpSpPr>
          <a:xfrm rot="0">
            <a:off x="458010" y="3353381"/>
            <a:ext cx="8685990" cy="4929188"/>
            <a:chOff x="0" y="0"/>
            <a:chExt cx="11581320" cy="6572250"/>
          </a:xfrm>
        </p:grpSpPr>
        <p:sp>
          <p:nvSpPr>
            <p:cNvPr name="Freeform 9" id="9" descr="image.png"/>
            <p:cNvSpPr/>
            <p:nvPr/>
          </p:nvSpPr>
          <p:spPr>
            <a:xfrm flipH="false" flipV="false" rot="0">
              <a:off x="0" y="0"/>
              <a:ext cx="11581257" cy="6572250"/>
            </a:xfrm>
            <a:custGeom>
              <a:avLst/>
              <a:gdLst/>
              <a:ahLst/>
              <a:cxnLst/>
              <a:rect r="r" b="b" t="t" l="l"/>
              <a:pathLst>
                <a:path h="6572250" w="11581257">
                  <a:moveTo>
                    <a:pt x="1090422" y="0"/>
                  </a:moveTo>
                  <a:lnTo>
                    <a:pt x="10490835" y="0"/>
                  </a:lnTo>
                  <a:cubicBezTo>
                    <a:pt x="11093069" y="0"/>
                    <a:pt x="11581257" y="488188"/>
                    <a:pt x="11581257" y="1090422"/>
                  </a:cubicBezTo>
                  <a:lnTo>
                    <a:pt x="11581257" y="5481828"/>
                  </a:lnTo>
                  <a:cubicBezTo>
                    <a:pt x="11581257" y="5771007"/>
                    <a:pt x="11466322" y="6048375"/>
                    <a:pt x="11261852" y="6252845"/>
                  </a:cubicBezTo>
                  <a:cubicBezTo>
                    <a:pt x="11057382" y="6457315"/>
                    <a:pt x="10780014" y="6572250"/>
                    <a:pt x="10490835" y="6572250"/>
                  </a:cubicBezTo>
                  <a:lnTo>
                    <a:pt x="1090422" y="6572250"/>
                  </a:lnTo>
                  <a:cubicBezTo>
                    <a:pt x="801243" y="6572250"/>
                    <a:pt x="523875" y="6457315"/>
                    <a:pt x="319405" y="6252845"/>
                  </a:cubicBezTo>
                  <a:cubicBezTo>
                    <a:pt x="114935" y="6048375"/>
                    <a:pt x="0" y="5771007"/>
                    <a:pt x="0" y="5481828"/>
                  </a:cubicBezTo>
                  <a:lnTo>
                    <a:pt x="0" y="1090422"/>
                  </a:lnTo>
                  <a:cubicBezTo>
                    <a:pt x="0" y="801243"/>
                    <a:pt x="114935" y="523875"/>
                    <a:pt x="319405" y="319405"/>
                  </a:cubicBezTo>
                  <a:cubicBezTo>
                    <a:pt x="523875" y="114935"/>
                    <a:pt x="801243" y="0"/>
                    <a:pt x="1090422" y="0"/>
                  </a:cubicBezTo>
                  <a:close/>
                </a:path>
              </a:pathLst>
            </a:custGeom>
            <a:solidFill>
              <a:srgbClr val="E0E4EA">
                <a:alpha val="16471"/>
              </a:srgbClr>
            </a:solidFill>
          </p:spPr>
        </p:sp>
      </p:grpSp>
      <p:sp>
        <p:nvSpPr>
          <p:cNvPr name="TextBox 10" id="10"/>
          <p:cNvSpPr txBox="true"/>
          <p:nvPr/>
        </p:nvSpPr>
        <p:spPr>
          <a:xfrm rot="0">
            <a:off x="1643062" y="3465776"/>
            <a:ext cx="7358062" cy="620554"/>
          </a:xfrm>
          <a:prstGeom prst="rect">
            <a:avLst/>
          </a:prstGeom>
        </p:spPr>
        <p:txBody>
          <a:bodyPr anchor="t" rtlCol="false" tIns="0" lIns="0" bIns="0" rIns="0">
            <a:spAutoFit/>
          </a:bodyPr>
          <a:lstStyle/>
          <a:p>
            <a:pPr algn="l">
              <a:lnSpc>
                <a:spcPts val="4320"/>
              </a:lnSpc>
            </a:pPr>
            <a:r>
              <a:rPr lang="en-US" sz="2250" b="true">
                <a:solidFill>
                  <a:srgbClr val="2D5A27"/>
                </a:solidFill>
                <a:latin typeface="Montserrat Bold"/>
                <a:ea typeface="Montserrat Bold"/>
                <a:cs typeface="Montserrat Bold"/>
                <a:sym typeface="Montserrat Bold"/>
              </a:rPr>
              <a:t>Nhân vật:</a:t>
            </a:r>
            <a:r>
              <a:rPr lang="en-US" sz="2250">
                <a:solidFill>
                  <a:srgbClr val="334155"/>
                </a:solidFill>
                <a:latin typeface="Montserrat"/>
                <a:ea typeface="Montserrat"/>
                <a:cs typeface="Montserrat"/>
                <a:sym typeface="Montserrat"/>
              </a:rPr>
              <a:t> </a:t>
            </a:r>
            <a:r>
              <a:rPr lang="en-US" sz="2250">
                <a:solidFill>
                  <a:srgbClr val="000000"/>
                </a:solidFill>
                <a:latin typeface="Montserrat"/>
                <a:ea typeface="Montserrat"/>
                <a:cs typeface="Montserrat"/>
                <a:sym typeface="Montserrat"/>
              </a:rPr>
              <a:t>Gia đình gồm bố, mẹ, người anh, em trai. </a:t>
            </a:r>
          </a:p>
        </p:txBody>
      </p:sp>
      <p:sp>
        <p:nvSpPr>
          <p:cNvPr name="TextBox 11" id="11"/>
          <p:cNvSpPr txBox="true"/>
          <p:nvPr/>
        </p:nvSpPr>
        <p:spPr>
          <a:xfrm rot="0">
            <a:off x="1643062" y="4437326"/>
            <a:ext cx="7358062" cy="1163479"/>
          </a:xfrm>
          <a:prstGeom prst="rect">
            <a:avLst/>
          </a:prstGeom>
        </p:spPr>
        <p:txBody>
          <a:bodyPr anchor="t" rtlCol="false" tIns="0" lIns="0" bIns="0" rIns="0">
            <a:spAutoFit/>
          </a:bodyPr>
          <a:lstStyle/>
          <a:p>
            <a:pPr algn="l">
              <a:lnSpc>
                <a:spcPts val="4320"/>
              </a:lnSpc>
            </a:pPr>
            <a:r>
              <a:rPr lang="en-US" sz="2250" b="true">
                <a:solidFill>
                  <a:srgbClr val="2D5A27"/>
                </a:solidFill>
                <a:latin typeface="Montserrat Bold"/>
                <a:ea typeface="Montserrat Bold"/>
                <a:cs typeface="Montserrat Bold"/>
                <a:sym typeface="Montserrat Bold"/>
              </a:rPr>
              <a:t>Ngôi kể:</a:t>
            </a:r>
            <a:r>
              <a:rPr lang="en-US" sz="2250">
                <a:solidFill>
                  <a:srgbClr val="334155"/>
                </a:solidFill>
                <a:latin typeface="Montserrat"/>
                <a:ea typeface="Montserrat"/>
                <a:cs typeface="Montserrat"/>
                <a:sym typeface="Montserrat"/>
              </a:rPr>
              <a:t> </a:t>
            </a:r>
            <a:r>
              <a:rPr lang="en-US" sz="2250">
                <a:solidFill>
                  <a:srgbClr val="000000"/>
                </a:solidFill>
                <a:latin typeface="Montserrat"/>
                <a:ea typeface="Montserrat"/>
                <a:cs typeface="Montserrat"/>
                <a:sym typeface="Montserrat"/>
              </a:rPr>
              <a:t>Kể theo ngôi thứ nhất, người kể là con trai lớn (xưng cháu).</a:t>
            </a:r>
          </a:p>
        </p:txBody>
      </p:sp>
      <p:sp>
        <p:nvSpPr>
          <p:cNvPr name="TextBox 12" id="12"/>
          <p:cNvSpPr txBox="true"/>
          <p:nvPr/>
        </p:nvSpPr>
        <p:spPr>
          <a:xfrm rot="0">
            <a:off x="1643062" y="5637476"/>
            <a:ext cx="7358062" cy="2249329"/>
          </a:xfrm>
          <a:prstGeom prst="rect">
            <a:avLst/>
          </a:prstGeom>
        </p:spPr>
        <p:txBody>
          <a:bodyPr anchor="t" rtlCol="false" tIns="0" lIns="0" bIns="0" rIns="0">
            <a:spAutoFit/>
          </a:bodyPr>
          <a:lstStyle/>
          <a:p>
            <a:pPr algn="l">
              <a:lnSpc>
                <a:spcPts val="4320"/>
              </a:lnSpc>
            </a:pPr>
            <a:r>
              <a:rPr lang="en-US" sz="2250" b="true">
                <a:solidFill>
                  <a:srgbClr val="2D5A27"/>
                </a:solidFill>
                <a:latin typeface="Montserrat Bold"/>
                <a:ea typeface="Montserrat Bold"/>
                <a:cs typeface="Montserrat Bold"/>
                <a:sym typeface="Montserrat Bold"/>
              </a:rPr>
              <a:t>Điểm nhìn:</a:t>
            </a:r>
            <a:r>
              <a:rPr lang="en-US" sz="2250">
                <a:solidFill>
                  <a:srgbClr val="000000"/>
                </a:solidFill>
                <a:latin typeface="Montserrat"/>
                <a:ea typeface="Montserrat"/>
                <a:cs typeface="Montserrat"/>
                <a:sym typeface="Montserrat"/>
              </a:rPr>
              <a:t> Chủ yếu từ người con, đôi khi chuyển sang người bố</a:t>
            </a:r>
          </a:p>
          <a:p>
            <a:pPr algn="l">
              <a:lnSpc>
                <a:spcPts val="4320"/>
              </a:lnSpc>
            </a:pPr>
            <a:r>
              <a:rPr lang="en-US" sz="2250">
                <a:solidFill>
                  <a:srgbClr val="000000"/>
                </a:solidFill>
                <a:latin typeface="Montserrat"/>
                <a:ea typeface="Montserrat"/>
                <a:cs typeface="Montserrat"/>
                <a:sym typeface="Montserrat"/>
              </a:rPr>
              <a:t>=&gt;&gt; giúp thể hiện chủ đề khách quan, sâu sắc và tạo sự đa dạng.</a:t>
            </a:r>
          </a:p>
        </p:txBody>
      </p:sp>
      <p:grpSp>
        <p:nvGrpSpPr>
          <p:cNvPr name="Group 13" id="13"/>
          <p:cNvGrpSpPr/>
          <p:nvPr/>
        </p:nvGrpSpPr>
        <p:grpSpPr>
          <a:xfrm rot="0">
            <a:off x="1143000" y="3813439"/>
            <a:ext cx="400050" cy="328612"/>
            <a:chOff x="0" y="0"/>
            <a:chExt cx="533400" cy="438150"/>
          </a:xfrm>
        </p:grpSpPr>
        <p:sp>
          <p:nvSpPr>
            <p:cNvPr name="Freeform 14" id="14" descr="image.png"/>
            <p:cNvSpPr/>
            <p:nvPr/>
          </p:nvSpPr>
          <p:spPr>
            <a:xfrm flipH="false" flipV="false" rot="0">
              <a:off x="0" y="0"/>
              <a:ext cx="533400" cy="438150"/>
            </a:xfrm>
            <a:custGeom>
              <a:avLst/>
              <a:gdLst/>
              <a:ahLst/>
              <a:cxnLst/>
              <a:rect r="r" b="b" t="t" l="l"/>
              <a:pathLst>
                <a:path h="438150" w="533400">
                  <a:moveTo>
                    <a:pt x="0" y="0"/>
                  </a:moveTo>
                  <a:lnTo>
                    <a:pt x="533400" y="0"/>
                  </a:lnTo>
                  <a:lnTo>
                    <a:pt x="533400" y="438150"/>
                  </a:lnTo>
                  <a:lnTo>
                    <a:pt x="0" y="438150"/>
                  </a:lnTo>
                  <a:lnTo>
                    <a:pt x="0" y="0"/>
                  </a:lnTo>
                  <a:close/>
                </a:path>
              </a:pathLst>
            </a:custGeom>
            <a:blipFill>
              <a:blip r:embed="rId5"/>
              <a:stretch>
                <a:fillRect l="0" t="0" r="0" b="0"/>
              </a:stretch>
            </a:blipFill>
          </p:spPr>
        </p:sp>
      </p:grpSp>
      <p:grpSp>
        <p:nvGrpSpPr>
          <p:cNvPr name="Group 15" id="15"/>
          <p:cNvGrpSpPr/>
          <p:nvPr/>
        </p:nvGrpSpPr>
        <p:grpSpPr>
          <a:xfrm rot="0">
            <a:off x="1143000" y="4784989"/>
            <a:ext cx="357188" cy="328612"/>
            <a:chOff x="0" y="0"/>
            <a:chExt cx="476250" cy="438150"/>
          </a:xfrm>
        </p:grpSpPr>
        <p:sp>
          <p:nvSpPr>
            <p:cNvPr name="Freeform 16" id="16" descr="image.png"/>
            <p:cNvSpPr/>
            <p:nvPr/>
          </p:nvSpPr>
          <p:spPr>
            <a:xfrm flipH="false" flipV="false" rot="0">
              <a:off x="0" y="0"/>
              <a:ext cx="476250" cy="438150"/>
            </a:xfrm>
            <a:custGeom>
              <a:avLst/>
              <a:gdLst/>
              <a:ahLst/>
              <a:cxnLst/>
              <a:rect r="r" b="b" t="t" l="l"/>
              <a:pathLst>
                <a:path h="438150" w="476250">
                  <a:moveTo>
                    <a:pt x="0" y="0"/>
                  </a:moveTo>
                  <a:lnTo>
                    <a:pt x="476250" y="0"/>
                  </a:lnTo>
                  <a:lnTo>
                    <a:pt x="476250" y="438150"/>
                  </a:lnTo>
                  <a:lnTo>
                    <a:pt x="0" y="438150"/>
                  </a:lnTo>
                  <a:lnTo>
                    <a:pt x="0" y="0"/>
                  </a:lnTo>
                  <a:close/>
                </a:path>
              </a:pathLst>
            </a:custGeom>
            <a:blipFill>
              <a:blip r:embed="rId6"/>
              <a:stretch>
                <a:fillRect l="0" t="0" r="0" b="0"/>
              </a:stretch>
            </a:blipFill>
          </p:spPr>
        </p:sp>
      </p:grpSp>
      <p:grpSp>
        <p:nvGrpSpPr>
          <p:cNvPr name="Group 17" id="17"/>
          <p:cNvGrpSpPr/>
          <p:nvPr/>
        </p:nvGrpSpPr>
        <p:grpSpPr>
          <a:xfrm rot="0">
            <a:off x="1143000" y="5985139"/>
            <a:ext cx="400050" cy="328612"/>
            <a:chOff x="0" y="0"/>
            <a:chExt cx="533400" cy="438150"/>
          </a:xfrm>
        </p:grpSpPr>
        <p:sp>
          <p:nvSpPr>
            <p:cNvPr name="Freeform 18" id="18" descr="image.png"/>
            <p:cNvSpPr/>
            <p:nvPr/>
          </p:nvSpPr>
          <p:spPr>
            <a:xfrm flipH="false" flipV="false" rot="0">
              <a:off x="0" y="0"/>
              <a:ext cx="533400" cy="438150"/>
            </a:xfrm>
            <a:custGeom>
              <a:avLst/>
              <a:gdLst/>
              <a:ahLst/>
              <a:cxnLst/>
              <a:rect r="r" b="b" t="t" l="l"/>
              <a:pathLst>
                <a:path h="438150" w="533400">
                  <a:moveTo>
                    <a:pt x="0" y="0"/>
                  </a:moveTo>
                  <a:lnTo>
                    <a:pt x="533400" y="0"/>
                  </a:lnTo>
                  <a:lnTo>
                    <a:pt x="533400" y="438150"/>
                  </a:lnTo>
                  <a:lnTo>
                    <a:pt x="0" y="438150"/>
                  </a:lnTo>
                  <a:lnTo>
                    <a:pt x="0" y="0"/>
                  </a:lnTo>
                  <a:close/>
                </a:path>
              </a:pathLst>
            </a:custGeom>
            <a:blipFill>
              <a:blip r:embed="rId7"/>
              <a:stretch>
                <a:fillRect l="0" t="0" r="0" b="0"/>
              </a:stretch>
            </a:blipFill>
          </p:spPr>
        </p:sp>
      </p:grpSp>
      <p:grpSp>
        <p:nvGrpSpPr>
          <p:cNvPr name="Group 19" id="19"/>
          <p:cNvGrpSpPr/>
          <p:nvPr/>
        </p:nvGrpSpPr>
        <p:grpSpPr>
          <a:xfrm rot="0">
            <a:off x="857250" y="857250"/>
            <a:ext cx="114300" cy="914400"/>
            <a:chOff x="0" y="0"/>
            <a:chExt cx="152400" cy="1219200"/>
          </a:xfrm>
        </p:grpSpPr>
        <p:sp>
          <p:nvSpPr>
            <p:cNvPr name="Freeform 20" id="20"/>
            <p:cNvSpPr/>
            <p:nvPr/>
          </p:nvSpPr>
          <p:spPr>
            <a:xfrm flipH="false" flipV="false" rot="0">
              <a:off x="0" y="0"/>
              <a:ext cx="152400" cy="1219200"/>
            </a:xfrm>
            <a:custGeom>
              <a:avLst/>
              <a:gdLst/>
              <a:ahLst/>
              <a:cxnLst/>
              <a:rect r="r" b="b" t="t" l="l"/>
              <a:pathLst>
                <a:path h="1219200" w="152400">
                  <a:moveTo>
                    <a:pt x="0" y="0"/>
                  </a:moveTo>
                  <a:lnTo>
                    <a:pt x="152400" y="0"/>
                  </a:lnTo>
                  <a:lnTo>
                    <a:pt x="152400" y="1219200"/>
                  </a:lnTo>
                  <a:lnTo>
                    <a:pt x="0" y="1219200"/>
                  </a:lnTo>
                  <a:close/>
                </a:path>
              </a:pathLst>
            </a:custGeom>
            <a:solidFill>
              <a:srgbClr val="C04000"/>
            </a:solidFill>
          </p:spPr>
        </p:sp>
      </p:grpSp>
      <p:sp>
        <p:nvSpPr>
          <p:cNvPr name="TextBox 21" id="21"/>
          <p:cNvSpPr txBox="true"/>
          <p:nvPr/>
        </p:nvSpPr>
        <p:spPr>
          <a:xfrm rot="0">
            <a:off x="1143000" y="857250"/>
            <a:ext cx="17102138" cy="914400"/>
          </a:xfrm>
          <a:prstGeom prst="rect">
            <a:avLst/>
          </a:prstGeom>
        </p:spPr>
        <p:txBody>
          <a:bodyPr anchor="t" rtlCol="false" tIns="0" lIns="0" bIns="0" rIns="0">
            <a:spAutoFit/>
          </a:bodyPr>
          <a:lstStyle/>
          <a:p>
            <a:pPr algn="l">
              <a:lnSpc>
                <a:spcPts val="6480"/>
              </a:lnSpc>
            </a:pPr>
            <a:r>
              <a:rPr lang="en-US" sz="5400" b="true">
                <a:solidFill>
                  <a:srgbClr val="2D5A27"/>
                </a:solidFill>
                <a:latin typeface="Playfair Display Bold"/>
                <a:ea typeface="Playfair Display Bold"/>
                <a:cs typeface="Playfair Display Bold"/>
                <a:sym typeface="Playfair Display Bold"/>
              </a:rPr>
              <a:t>HỆ THỐNG NHÂN VẬT &amp; NGÔI KỂ</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9259" r="0" b="-9259"/>
              </a:stretch>
            </a:blipFill>
          </p:spPr>
        </p:sp>
      </p:grpSp>
      <p:sp>
        <p:nvSpPr>
          <p:cNvPr name="Freeform 4" id="4"/>
          <p:cNvSpPr/>
          <p:nvPr/>
        </p:nvSpPr>
        <p:spPr>
          <a:xfrm flipH="false" flipV="false" rot="0">
            <a:off x="5165817" y="4700140"/>
            <a:ext cx="3679984" cy="3450174"/>
          </a:xfrm>
          <a:custGeom>
            <a:avLst/>
            <a:gdLst/>
            <a:ahLst/>
            <a:cxnLst/>
            <a:rect r="r" b="b" t="t" l="l"/>
            <a:pathLst>
              <a:path h="3450174" w="3679984">
                <a:moveTo>
                  <a:pt x="0" y="0"/>
                </a:moveTo>
                <a:lnTo>
                  <a:pt x="3679984" y="0"/>
                </a:lnTo>
                <a:lnTo>
                  <a:pt x="3679984" y="3450174"/>
                </a:lnTo>
                <a:lnTo>
                  <a:pt x="0" y="34501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458296" y="4700140"/>
            <a:ext cx="3679984" cy="3450174"/>
          </a:xfrm>
          <a:custGeom>
            <a:avLst/>
            <a:gdLst/>
            <a:ahLst/>
            <a:cxnLst/>
            <a:rect r="r" b="b" t="t" l="l"/>
            <a:pathLst>
              <a:path h="3450174" w="3679984">
                <a:moveTo>
                  <a:pt x="0" y="0"/>
                </a:moveTo>
                <a:lnTo>
                  <a:pt x="3679984" y="0"/>
                </a:lnTo>
                <a:lnTo>
                  <a:pt x="3679984" y="3450174"/>
                </a:lnTo>
                <a:lnTo>
                  <a:pt x="0" y="34501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3750766" y="4700140"/>
            <a:ext cx="3679984" cy="3450174"/>
          </a:xfrm>
          <a:custGeom>
            <a:avLst/>
            <a:gdLst/>
            <a:ahLst/>
            <a:cxnLst/>
            <a:rect r="r" b="b" t="t" l="l"/>
            <a:pathLst>
              <a:path h="3450174" w="3679984">
                <a:moveTo>
                  <a:pt x="0" y="0"/>
                </a:moveTo>
                <a:lnTo>
                  <a:pt x="3679984" y="0"/>
                </a:lnTo>
                <a:lnTo>
                  <a:pt x="3679984" y="3450174"/>
                </a:lnTo>
                <a:lnTo>
                  <a:pt x="0" y="34501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337349" y="451485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6646364" y="451485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0955388" y="451485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5264403" y="451485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857250" y="857250"/>
            <a:ext cx="114300" cy="914400"/>
            <a:chOff x="0" y="0"/>
            <a:chExt cx="152400" cy="1219200"/>
          </a:xfrm>
        </p:grpSpPr>
        <p:sp>
          <p:nvSpPr>
            <p:cNvPr name="Freeform 12" id="12"/>
            <p:cNvSpPr/>
            <p:nvPr/>
          </p:nvSpPr>
          <p:spPr>
            <a:xfrm flipH="false" flipV="false" rot="0">
              <a:off x="0" y="0"/>
              <a:ext cx="152400" cy="1219200"/>
            </a:xfrm>
            <a:custGeom>
              <a:avLst/>
              <a:gdLst/>
              <a:ahLst/>
              <a:cxnLst/>
              <a:rect r="r" b="b" t="t" l="l"/>
              <a:pathLst>
                <a:path h="1219200" w="152400">
                  <a:moveTo>
                    <a:pt x="0" y="0"/>
                  </a:moveTo>
                  <a:lnTo>
                    <a:pt x="152400" y="0"/>
                  </a:lnTo>
                  <a:lnTo>
                    <a:pt x="152400" y="1219200"/>
                  </a:lnTo>
                  <a:lnTo>
                    <a:pt x="0" y="1219200"/>
                  </a:lnTo>
                  <a:close/>
                </a:path>
              </a:pathLst>
            </a:custGeom>
            <a:solidFill>
              <a:srgbClr val="C04000"/>
            </a:solidFill>
          </p:spPr>
        </p:sp>
      </p:grpSp>
      <p:sp>
        <p:nvSpPr>
          <p:cNvPr name="Freeform 13" id="13"/>
          <p:cNvSpPr/>
          <p:nvPr/>
        </p:nvSpPr>
        <p:spPr>
          <a:xfrm flipH="false" flipV="false" rot="0">
            <a:off x="914400" y="4700140"/>
            <a:ext cx="3679984" cy="3450174"/>
          </a:xfrm>
          <a:custGeom>
            <a:avLst/>
            <a:gdLst/>
            <a:ahLst/>
            <a:cxnLst/>
            <a:rect r="r" b="b" t="t" l="l"/>
            <a:pathLst>
              <a:path h="3450174" w="3679984">
                <a:moveTo>
                  <a:pt x="0" y="0"/>
                </a:moveTo>
                <a:lnTo>
                  <a:pt x="3679984" y="0"/>
                </a:lnTo>
                <a:lnTo>
                  <a:pt x="3679984" y="3450174"/>
                </a:lnTo>
                <a:lnTo>
                  <a:pt x="0" y="34501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766096" y="5438775"/>
            <a:ext cx="3828288" cy="361950"/>
          </a:xfrm>
          <a:prstGeom prst="rect">
            <a:avLst/>
          </a:prstGeom>
        </p:spPr>
        <p:txBody>
          <a:bodyPr anchor="t" rtlCol="false" tIns="0" lIns="0" bIns="0" rIns="0">
            <a:spAutoFit/>
          </a:bodyPr>
          <a:lstStyle/>
          <a:p>
            <a:pPr algn="ctr">
              <a:lnSpc>
                <a:spcPts val="2700"/>
              </a:lnSpc>
            </a:pPr>
            <a:r>
              <a:rPr lang="en-US" sz="2250" b="true">
                <a:solidFill>
                  <a:srgbClr val="C04000"/>
                </a:solidFill>
                <a:latin typeface="Montserrat Bold"/>
                <a:ea typeface="Montserrat Bold"/>
                <a:cs typeface="Montserrat Bold"/>
                <a:sym typeface="Montserrat Bold"/>
              </a:rPr>
              <a:t>Khởi đầu</a:t>
            </a:r>
          </a:p>
        </p:txBody>
      </p:sp>
      <p:sp>
        <p:nvSpPr>
          <p:cNvPr name="TextBox 15" id="15"/>
          <p:cNvSpPr txBox="true"/>
          <p:nvPr/>
        </p:nvSpPr>
        <p:spPr>
          <a:xfrm rot="0">
            <a:off x="857250" y="5619750"/>
            <a:ext cx="3645989" cy="2152650"/>
          </a:xfrm>
          <a:prstGeom prst="rect">
            <a:avLst/>
          </a:prstGeom>
        </p:spPr>
        <p:txBody>
          <a:bodyPr anchor="t" rtlCol="false" tIns="0" lIns="0" bIns="0" rIns="0">
            <a:spAutoFit/>
          </a:bodyPr>
          <a:lstStyle/>
          <a:p>
            <a:pPr algn="ctr">
              <a:lnSpc>
                <a:spcPts val="4320"/>
              </a:lnSpc>
            </a:pPr>
            <a:r>
              <a:rPr lang="en-US" sz="2250">
                <a:solidFill>
                  <a:srgbClr val="334155"/>
                </a:solidFill>
                <a:latin typeface="Montserrat"/>
                <a:ea typeface="Montserrat"/>
                <a:cs typeface="Montserrat"/>
                <a:sym typeface="Montserrat"/>
              </a:rPr>
              <a:t>Gia đình phá rừng để định cư, vô tình xâm chiếm lãnh địa của bầy kiến.</a:t>
            </a:r>
          </a:p>
        </p:txBody>
      </p:sp>
      <p:sp>
        <p:nvSpPr>
          <p:cNvPr name="TextBox 16" id="16"/>
          <p:cNvSpPr txBox="true"/>
          <p:nvPr/>
        </p:nvSpPr>
        <p:spPr>
          <a:xfrm rot="0">
            <a:off x="5075120" y="5438775"/>
            <a:ext cx="3828288" cy="361950"/>
          </a:xfrm>
          <a:prstGeom prst="rect">
            <a:avLst/>
          </a:prstGeom>
        </p:spPr>
        <p:txBody>
          <a:bodyPr anchor="t" rtlCol="false" tIns="0" lIns="0" bIns="0" rIns="0">
            <a:spAutoFit/>
          </a:bodyPr>
          <a:lstStyle/>
          <a:p>
            <a:pPr algn="ctr">
              <a:lnSpc>
                <a:spcPts val="2700"/>
              </a:lnSpc>
            </a:pPr>
            <a:r>
              <a:rPr lang="en-US" sz="2250" b="true">
                <a:solidFill>
                  <a:srgbClr val="C04000"/>
                </a:solidFill>
                <a:latin typeface="Montserrat Bold"/>
                <a:ea typeface="Montserrat Bold"/>
                <a:cs typeface="Montserrat Bold"/>
                <a:sym typeface="Montserrat Bold"/>
              </a:rPr>
              <a:t>Tấn công</a:t>
            </a:r>
          </a:p>
        </p:txBody>
      </p:sp>
      <p:sp>
        <p:nvSpPr>
          <p:cNvPr name="TextBox 17" id="17"/>
          <p:cNvSpPr txBox="true"/>
          <p:nvPr/>
        </p:nvSpPr>
        <p:spPr>
          <a:xfrm rot="0">
            <a:off x="5136032" y="5848350"/>
            <a:ext cx="3645989" cy="1695450"/>
          </a:xfrm>
          <a:prstGeom prst="rect">
            <a:avLst/>
          </a:prstGeom>
        </p:spPr>
        <p:txBody>
          <a:bodyPr anchor="t" rtlCol="false" tIns="0" lIns="0" bIns="0" rIns="0">
            <a:spAutoFit/>
          </a:bodyPr>
          <a:lstStyle/>
          <a:p>
            <a:pPr algn="ctr">
              <a:lnSpc>
                <a:spcPts val="4320"/>
              </a:lnSpc>
            </a:pPr>
            <a:r>
              <a:rPr lang="en-US" sz="2250">
                <a:solidFill>
                  <a:srgbClr val="334155"/>
                </a:solidFill>
                <a:latin typeface="Montserrat"/>
                <a:ea typeface="Montserrat"/>
                <a:cs typeface="Montserrat"/>
                <a:sym typeface="Montserrat"/>
              </a:rPr>
              <a:t>Đàn kiến nổi giận tấn công dữ dội vào vật nuôi và ngôi nhà gỗ.</a:t>
            </a:r>
          </a:p>
        </p:txBody>
      </p:sp>
      <p:sp>
        <p:nvSpPr>
          <p:cNvPr name="TextBox 18" id="18"/>
          <p:cNvSpPr txBox="true"/>
          <p:nvPr/>
        </p:nvSpPr>
        <p:spPr>
          <a:xfrm rot="0">
            <a:off x="9384144" y="5438775"/>
            <a:ext cx="3828288" cy="361950"/>
          </a:xfrm>
          <a:prstGeom prst="rect">
            <a:avLst/>
          </a:prstGeom>
        </p:spPr>
        <p:txBody>
          <a:bodyPr anchor="t" rtlCol="false" tIns="0" lIns="0" bIns="0" rIns="0">
            <a:spAutoFit/>
          </a:bodyPr>
          <a:lstStyle/>
          <a:p>
            <a:pPr algn="ctr">
              <a:lnSpc>
                <a:spcPts val="2700"/>
              </a:lnSpc>
            </a:pPr>
            <a:r>
              <a:rPr lang="en-US" sz="2250" b="true">
                <a:solidFill>
                  <a:srgbClr val="C04000"/>
                </a:solidFill>
                <a:latin typeface="Montserrat Bold"/>
                <a:ea typeface="Montserrat Bold"/>
                <a:cs typeface="Montserrat Bold"/>
                <a:sym typeface="Montserrat Bold"/>
              </a:rPr>
              <a:t>Tuyệt vọng</a:t>
            </a:r>
          </a:p>
        </p:txBody>
      </p:sp>
      <p:sp>
        <p:nvSpPr>
          <p:cNvPr name="TextBox 19" id="19"/>
          <p:cNvSpPr txBox="true"/>
          <p:nvPr/>
        </p:nvSpPr>
        <p:spPr>
          <a:xfrm rot="0">
            <a:off x="9458296" y="5848350"/>
            <a:ext cx="3645989" cy="1695450"/>
          </a:xfrm>
          <a:prstGeom prst="rect">
            <a:avLst/>
          </a:prstGeom>
        </p:spPr>
        <p:txBody>
          <a:bodyPr anchor="t" rtlCol="false" tIns="0" lIns="0" bIns="0" rIns="0">
            <a:spAutoFit/>
          </a:bodyPr>
          <a:lstStyle/>
          <a:p>
            <a:pPr algn="ctr">
              <a:lnSpc>
                <a:spcPts val="4320"/>
              </a:lnSpc>
            </a:pPr>
            <a:r>
              <a:rPr lang="en-US" sz="2250">
                <a:solidFill>
                  <a:srgbClr val="334155"/>
                </a:solidFill>
                <a:latin typeface="Montserrat"/>
                <a:ea typeface="Montserrat"/>
                <a:cs typeface="Montserrat"/>
                <a:sym typeface="Montserrat"/>
              </a:rPr>
              <a:t>Người bố đốt nhà để mở đường máu chạy thoát trong đau đớn.</a:t>
            </a:r>
          </a:p>
        </p:txBody>
      </p:sp>
      <p:sp>
        <p:nvSpPr>
          <p:cNvPr name="TextBox 20" id="20"/>
          <p:cNvSpPr txBox="true"/>
          <p:nvPr/>
        </p:nvSpPr>
        <p:spPr>
          <a:xfrm rot="0">
            <a:off x="13693159" y="5438775"/>
            <a:ext cx="3828288" cy="361950"/>
          </a:xfrm>
          <a:prstGeom prst="rect">
            <a:avLst/>
          </a:prstGeom>
        </p:spPr>
        <p:txBody>
          <a:bodyPr anchor="t" rtlCol="false" tIns="0" lIns="0" bIns="0" rIns="0">
            <a:spAutoFit/>
          </a:bodyPr>
          <a:lstStyle/>
          <a:p>
            <a:pPr algn="ctr">
              <a:lnSpc>
                <a:spcPts val="2700"/>
              </a:lnSpc>
            </a:pPr>
            <a:r>
              <a:rPr lang="en-US" sz="2250" b="true">
                <a:solidFill>
                  <a:srgbClr val="C04000"/>
                </a:solidFill>
                <a:latin typeface="Montserrat Bold"/>
                <a:ea typeface="Montserrat Bold"/>
                <a:cs typeface="Montserrat Bold"/>
                <a:sym typeface="Montserrat Bold"/>
              </a:rPr>
              <a:t>Hậu quả</a:t>
            </a:r>
          </a:p>
        </p:txBody>
      </p:sp>
      <p:sp>
        <p:nvSpPr>
          <p:cNvPr name="TextBox 21" id="21"/>
          <p:cNvSpPr txBox="true"/>
          <p:nvPr/>
        </p:nvSpPr>
        <p:spPr>
          <a:xfrm rot="0">
            <a:off x="13784309" y="5848350"/>
            <a:ext cx="3645989" cy="1695450"/>
          </a:xfrm>
          <a:prstGeom prst="rect">
            <a:avLst/>
          </a:prstGeom>
        </p:spPr>
        <p:txBody>
          <a:bodyPr anchor="t" rtlCol="false" tIns="0" lIns="0" bIns="0" rIns="0">
            <a:spAutoFit/>
          </a:bodyPr>
          <a:lstStyle/>
          <a:p>
            <a:pPr algn="ctr">
              <a:lnSpc>
                <a:spcPts val="4320"/>
              </a:lnSpc>
            </a:pPr>
            <a:r>
              <a:rPr lang="en-US" sz="2250">
                <a:solidFill>
                  <a:srgbClr val="334155"/>
                </a:solidFill>
                <a:latin typeface="Montserrat"/>
                <a:ea typeface="Montserrat"/>
                <a:cs typeface="Montserrat"/>
                <a:sym typeface="Montserrat"/>
              </a:rPr>
              <a:t>Mẹ mất, nhà cháy, người bố nhận ra lỗi lầm và hóa điên dại.</a:t>
            </a:r>
          </a:p>
        </p:txBody>
      </p:sp>
      <p:sp>
        <p:nvSpPr>
          <p:cNvPr name="TextBox 22" id="22"/>
          <p:cNvSpPr txBox="true"/>
          <p:nvPr/>
        </p:nvSpPr>
        <p:spPr>
          <a:xfrm rot="0">
            <a:off x="1143000" y="857250"/>
            <a:ext cx="17102138" cy="914400"/>
          </a:xfrm>
          <a:prstGeom prst="rect">
            <a:avLst/>
          </a:prstGeom>
        </p:spPr>
        <p:txBody>
          <a:bodyPr anchor="t" rtlCol="false" tIns="0" lIns="0" bIns="0" rIns="0">
            <a:spAutoFit/>
          </a:bodyPr>
          <a:lstStyle/>
          <a:p>
            <a:pPr algn="l">
              <a:lnSpc>
                <a:spcPts val="6480"/>
              </a:lnSpc>
            </a:pPr>
            <a:r>
              <a:rPr lang="en-US" sz="5400" b="true">
                <a:solidFill>
                  <a:srgbClr val="2D5A27"/>
                </a:solidFill>
                <a:latin typeface="Playfair Display Bold"/>
                <a:ea typeface="Playfair Display Bold"/>
                <a:cs typeface="Playfair Display Bold"/>
                <a:sym typeface="Playfair Display Bold"/>
              </a:rPr>
              <a:t>DIỄN BIẾN BI KỊCH</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9259" r="0" b="-9259"/>
              </a:stretch>
            </a:blipFill>
          </p:spPr>
        </p:sp>
      </p:grpSp>
      <p:grpSp>
        <p:nvGrpSpPr>
          <p:cNvPr name="Group 4" id="4"/>
          <p:cNvGrpSpPr/>
          <p:nvPr/>
        </p:nvGrpSpPr>
        <p:grpSpPr>
          <a:xfrm rot="0">
            <a:off x="9417120" y="4279106"/>
            <a:ext cx="8001000" cy="3228975"/>
            <a:chOff x="0" y="0"/>
            <a:chExt cx="10668000" cy="4305300"/>
          </a:xfrm>
        </p:grpSpPr>
        <p:sp>
          <p:nvSpPr>
            <p:cNvPr name="Freeform 5" id="5" descr="image.png"/>
            <p:cNvSpPr/>
            <p:nvPr/>
          </p:nvSpPr>
          <p:spPr>
            <a:xfrm flipH="false" flipV="false" rot="0">
              <a:off x="0" y="0"/>
              <a:ext cx="10668000" cy="4305300"/>
            </a:xfrm>
            <a:custGeom>
              <a:avLst/>
              <a:gdLst/>
              <a:ahLst/>
              <a:cxnLst/>
              <a:rect r="r" b="b" t="t" l="l"/>
              <a:pathLst>
                <a:path h="4305300" w="10668000">
                  <a:moveTo>
                    <a:pt x="622300" y="0"/>
                  </a:moveTo>
                  <a:lnTo>
                    <a:pt x="10045700" y="0"/>
                  </a:lnTo>
                  <a:cubicBezTo>
                    <a:pt x="10389362" y="0"/>
                    <a:pt x="10668000" y="278638"/>
                    <a:pt x="10668000" y="622300"/>
                  </a:cubicBezTo>
                  <a:lnTo>
                    <a:pt x="10668000" y="3683000"/>
                  </a:lnTo>
                  <a:cubicBezTo>
                    <a:pt x="10668000" y="4026662"/>
                    <a:pt x="10389362" y="4305300"/>
                    <a:pt x="10045700" y="4305300"/>
                  </a:cubicBezTo>
                  <a:lnTo>
                    <a:pt x="622300" y="4305300"/>
                  </a:lnTo>
                  <a:cubicBezTo>
                    <a:pt x="278638" y="4305300"/>
                    <a:pt x="0" y="4026662"/>
                    <a:pt x="0" y="3683000"/>
                  </a:cubicBezTo>
                  <a:lnTo>
                    <a:pt x="0" y="622300"/>
                  </a:lnTo>
                  <a:cubicBezTo>
                    <a:pt x="0" y="278638"/>
                    <a:pt x="278638" y="0"/>
                    <a:pt x="622300" y="0"/>
                  </a:cubicBezTo>
                  <a:close/>
                </a:path>
              </a:pathLst>
            </a:custGeom>
            <a:solidFill>
              <a:srgbClr val="374D34">
                <a:alpha val="41569"/>
              </a:srgbClr>
            </a:solidFill>
          </p:spPr>
        </p:sp>
      </p:grpSp>
      <p:grpSp>
        <p:nvGrpSpPr>
          <p:cNvPr name="Group 6" id="6"/>
          <p:cNvGrpSpPr/>
          <p:nvPr/>
        </p:nvGrpSpPr>
        <p:grpSpPr>
          <a:xfrm rot="0">
            <a:off x="857250" y="4279106"/>
            <a:ext cx="8001000" cy="3228975"/>
            <a:chOff x="0" y="0"/>
            <a:chExt cx="10668000" cy="4305300"/>
          </a:xfrm>
        </p:grpSpPr>
        <p:sp>
          <p:nvSpPr>
            <p:cNvPr name="Freeform 7" id="7" descr="image.png"/>
            <p:cNvSpPr/>
            <p:nvPr/>
          </p:nvSpPr>
          <p:spPr>
            <a:xfrm flipH="false" flipV="false" rot="0">
              <a:off x="0" y="0"/>
              <a:ext cx="10668000" cy="4305300"/>
            </a:xfrm>
            <a:custGeom>
              <a:avLst/>
              <a:gdLst/>
              <a:ahLst/>
              <a:cxnLst/>
              <a:rect r="r" b="b" t="t" l="l"/>
              <a:pathLst>
                <a:path h="4305300" w="10668000">
                  <a:moveTo>
                    <a:pt x="622300" y="0"/>
                  </a:moveTo>
                  <a:lnTo>
                    <a:pt x="10045700" y="0"/>
                  </a:lnTo>
                  <a:cubicBezTo>
                    <a:pt x="10389362" y="0"/>
                    <a:pt x="10668000" y="278638"/>
                    <a:pt x="10668000" y="622300"/>
                  </a:cubicBezTo>
                  <a:lnTo>
                    <a:pt x="10668000" y="3683000"/>
                  </a:lnTo>
                  <a:cubicBezTo>
                    <a:pt x="10668000" y="4026662"/>
                    <a:pt x="10389362" y="4305300"/>
                    <a:pt x="10045700" y="4305300"/>
                  </a:cubicBezTo>
                  <a:lnTo>
                    <a:pt x="622300" y="4305300"/>
                  </a:lnTo>
                  <a:cubicBezTo>
                    <a:pt x="278638" y="4305300"/>
                    <a:pt x="0" y="4026662"/>
                    <a:pt x="0" y="3683000"/>
                  </a:cubicBezTo>
                  <a:lnTo>
                    <a:pt x="0" y="622300"/>
                  </a:lnTo>
                  <a:cubicBezTo>
                    <a:pt x="0" y="278638"/>
                    <a:pt x="278638" y="0"/>
                    <a:pt x="622300" y="0"/>
                  </a:cubicBezTo>
                  <a:close/>
                </a:path>
              </a:pathLst>
            </a:custGeom>
            <a:solidFill>
              <a:srgbClr val="374D34">
                <a:alpha val="41569"/>
              </a:srgbClr>
            </a:solidFill>
          </p:spPr>
        </p:sp>
      </p:grpSp>
      <p:grpSp>
        <p:nvGrpSpPr>
          <p:cNvPr name="Group 8" id="8"/>
          <p:cNvGrpSpPr/>
          <p:nvPr/>
        </p:nvGrpSpPr>
        <p:grpSpPr>
          <a:xfrm rot="0">
            <a:off x="857250" y="857250"/>
            <a:ext cx="114300" cy="914400"/>
            <a:chOff x="0" y="0"/>
            <a:chExt cx="152400" cy="1219200"/>
          </a:xfrm>
        </p:grpSpPr>
        <p:sp>
          <p:nvSpPr>
            <p:cNvPr name="Freeform 9" id="9"/>
            <p:cNvSpPr/>
            <p:nvPr/>
          </p:nvSpPr>
          <p:spPr>
            <a:xfrm flipH="false" flipV="false" rot="0">
              <a:off x="0" y="0"/>
              <a:ext cx="152400" cy="1219200"/>
            </a:xfrm>
            <a:custGeom>
              <a:avLst/>
              <a:gdLst/>
              <a:ahLst/>
              <a:cxnLst/>
              <a:rect r="r" b="b" t="t" l="l"/>
              <a:pathLst>
                <a:path h="1219200" w="152400">
                  <a:moveTo>
                    <a:pt x="0" y="0"/>
                  </a:moveTo>
                  <a:lnTo>
                    <a:pt x="152400" y="0"/>
                  </a:lnTo>
                  <a:lnTo>
                    <a:pt x="152400" y="1219200"/>
                  </a:lnTo>
                  <a:lnTo>
                    <a:pt x="0" y="1219200"/>
                  </a:lnTo>
                  <a:close/>
                </a:path>
              </a:pathLst>
            </a:custGeom>
            <a:solidFill>
              <a:srgbClr val="C04000"/>
            </a:solidFill>
          </p:spPr>
        </p:sp>
      </p:grpSp>
      <p:sp>
        <p:nvSpPr>
          <p:cNvPr name="TextBox 10" id="10"/>
          <p:cNvSpPr txBox="true"/>
          <p:nvPr/>
        </p:nvSpPr>
        <p:spPr>
          <a:xfrm rot="0">
            <a:off x="1143000" y="857250"/>
            <a:ext cx="17102138" cy="819150"/>
          </a:xfrm>
          <a:prstGeom prst="rect">
            <a:avLst/>
          </a:prstGeom>
        </p:spPr>
        <p:txBody>
          <a:bodyPr anchor="t" rtlCol="false" tIns="0" lIns="0" bIns="0" rIns="0">
            <a:spAutoFit/>
          </a:bodyPr>
          <a:lstStyle/>
          <a:p>
            <a:pPr algn="l">
              <a:lnSpc>
                <a:spcPts val="6480"/>
              </a:lnSpc>
            </a:pPr>
            <a:r>
              <a:rPr lang="en-US" sz="5400" b="true">
                <a:solidFill>
                  <a:srgbClr val="2D5A27"/>
                </a:solidFill>
                <a:latin typeface="Playfair Display Bold"/>
                <a:ea typeface="Playfair Display Bold"/>
                <a:cs typeface="Playfair Display Bold"/>
                <a:sym typeface="Playfair Display Bold"/>
              </a:rPr>
              <a:t>KẾT CỤC BI KỊCH</a:t>
            </a:r>
          </a:p>
        </p:txBody>
      </p:sp>
      <p:sp>
        <p:nvSpPr>
          <p:cNvPr name="TextBox 11" id="11"/>
          <p:cNvSpPr txBox="true"/>
          <p:nvPr/>
        </p:nvSpPr>
        <p:spPr>
          <a:xfrm rot="0">
            <a:off x="1400175" y="4722019"/>
            <a:ext cx="7365921" cy="514350"/>
          </a:xfrm>
          <a:prstGeom prst="rect">
            <a:avLst/>
          </a:prstGeom>
        </p:spPr>
        <p:txBody>
          <a:bodyPr anchor="t" rtlCol="false" tIns="0" lIns="0" bIns="0" rIns="0">
            <a:spAutoFit/>
          </a:bodyPr>
          <a:lstStyle/>
          <a:p>
            <a:pPr algn="l">
              <a:lnSpc>
                <a:spcPts val="3778"/>
              </a:lnSpc>
            </a:pPr>
            <a:r>
              <a:rPr lang="en-US" sz="3150" b="true">
                <a:solidFill>
                  <a:srgbClr val="DEFF9A"/>
                </a:solidFill>
                <a:latin typeface="Merriweather Bold"/>
                <a:ea typeface="Merriweather Bold"/>
                <a:cs typeface="Merriweather Bold"/>
                <a:sym typeface="Merriweather Bold"/>
              </a:rPr>
              <a:t>Sự mất mát</a:t>
            </a:r>
          </a:p>
        </p:txBody>
      </p:sp>
      <p:sp>
        <p:nvSpPr>
          <p:cNvPr name="TextBox 12" id="12"/>
          <p:cNvSpPr txBox="true"/>
          <p:nvPr/>
        </p:nvSpPr>
        <p:spPr>
          <a:xfrm rot="0">
            <a:off x="9972675" y="4722019"/>
            <a:ext cx="7365921" cy="514350"/>
          </a:xfrm>
          <a:prstGeom prst="rect">
            <a:avLst/>
          </a:prstGeom>
        </p:spPr>
        <p:txBody>
          <a:bodyPr anchor="t" rtlCol="false" tIns="0" lIns="0" bIns="0" rIns="0">
            <a:spAutoFit/>
          </a:bodyPr>
          <a:lstStyle/>
          <a:p>
            <a:pPr algn="l">
              <a:lnSpc>
                <a:spcPts val="3778"/>
              </a:lnSpc>
            </a:pPr>
            <a:r>
              <a:rPr lang="en-US" sz="3150" b="true">
                <a:solidFill>
                  <a:srgbClr val="DEFF9A"/>
                </a:solidFill>
                <a:latin typeface="Merriweather Bold"/>
                <a:ea typeface="Merriweather Bold"/>
                <a:cs typeface="Merriweather Bold"/>
                <a:sym typeface="Merriweather Bold"/>
              </a:rPr>
              <a:t>Sự sụp đổ tinh thần</a:t>
            </a:r>
          </a:p>
        </p:txBody>
      </p:sp>
      <p:sp>
        <p:nvSpPr>
          <p:cNvPr name="TextBox 13" id="13"/>
          <p:cNvSpPr txBox="true"/>
          <p:nvPr/>
        </p:nvSpPr>
        <p:spPr>
          <a:xfrm rot="0">
            <a:off x="1438275" y="5099114"/>
            <a:ext cx="6691198" cy="712346"/>
          </a:xfrm>
          <a:prstGeom prst="rect">
            <a:avLst/>
          </a:prstGeom>
        </p:spPr>
        <p:txBody>
          <a:bodyPr anchor="t" rtlCol="false" tIns="0" lIns="0" bIns="0" rIns="0">
            <a:spAutoFit/>
          </a:bodyPr>
          <a:lstStyle/>
          <a:p>
            <a:pPr algn="l">
              <a:lnSpc>
                <a:spcPts val="4608"/>
              </a:lnSpc>
            </a:pPr>
            <a:r>
              <a:rPr lang="en-US" sz="2400">
                <a:solidFill>
                  <a:srgbClr val="FFFEFE"/>
                </a:solidFill>
                <a:latin typeface="Comfortaa"/>
                <a:ea typeface="Comfortaa"/>
                <a:cs typeface="Comfortaa"/>
                <a:sym typeface="Comfortaa"/>
              </a:rPr>
              <a:t>Người mẹ chết vì nọc độc của kiến.</a:t>
            </a:r>
          </a:p>
        </p:txBody>
      </p:sp>
      <p:sp>
        <p:nvSpPr>
          <p:cNvPr name="TextBox 14" id="14"/>
          <p:cNvSpPr txBox="true"/>
          <p:nvPr/>
        </p:nvSpPr>
        <p:spPr>
          <a:xfrm rot="0">
            <a:off x="1438275" y="5556304"/>
            <a:ext cx="7327954" cy="712346"/>
          </a:xfrm>
          <a:prstGeom prst="rect">
            <a:avLst/>
          </a:prstGeom>
        </p:spPr>
        <p:txBody>
          <a:bodyPr anchor="t" rtlCol="false" tIns="0" lIns="0" bIns="0" rIns="0">
            <a:spAutoFit/>
          </a:bodyPr>
          <a:lstStyle/>
          <a:p>
            <a:pPr algn="l">
              <a:lnSpc>
                <a:spcPts val="4608"/>
              </a:lnSpc>
            </a:pPr>
            <a:r>
              <a:rPr lang="en-US" sz="2400">
                <a:solidFill>
                  <a:srgbClr val="FFFEFE"/>
                </a:solidFill>
                <a:latin typeface="Comfortaa"/>
                <a:ea typeface="Comfortaa"/>
                <a:cs typeface="Comfortaa"/>
                <a:sym typeface="Comfortaa"/>
              </a:rPr>
              <a:t>Ngôi nhà và rẫy vườn hoàn toàn bị thiêu rụi.</a:t>
            </a:r>
          </a:p>
        </p:txBody>
      </p:sp>
      <p:sp>
        <p:nvSpPr>
          <p:cNvPr name="TextBox 15" id="15"/>
          <p:cNvSpPr txBox="true"/>
          <p:nvPr/>
        </p:nvSpPr>
        <p:spPr>
          <a:xfrm rot="0">
            <a:off x="1438275" y="6013485"/>
            <a:ext cx="6691198" cy="712346"/>
          </a:xfrm>
          <a:prstGeom prst="rect">
            <a:avLst/>
          </a:prstGeom>
        </p:spPr>
        <p:txBody>
          <a:bodyPr anchor="t" rtlCol="false" tIns="0" lIns="0" bIns="0" rIns="0">
            <a:spAutoFit/>
          </a:bodyPr>
          <a:lstStyle/>
          <a:p>
            <a:pPr algn="l">
              <a:lnSpc>
                <a:spcPts val="4608"/>
              </a:lnSpc>
            </a:pPr>
            <a:r>
              <a:rPr lang="en-US" sz="2400">
                <a:solidFill>
                  <a:srgbClr val="FFFEFE"/>
                </a:solidFill>
                <a:latin typeface="Comfortaa"/>
                <a:ea typeface="Comfortaa"/>
                <a:cs typeface="Comfortaa"/>
                <a:sym typeface="Comfortaa"/>
              </a:rPr>
              <a:t>Tài sản tích góp tan thành tro bụi.</a:t>
            </a:r>
          </a:p>
        </p:txBody>
      </p:sp>
      <p:sp>
        <p:nvSpPr>
          <p:cNvPr name="TextBox 16" id="16"/>
          <p:cNvSpPr txBox="true"/>
          <p:nvPr/>
        </p:nvSpPr>
        <p:spPr>
          <a:xfrm rot="0">
            <a:off x="10010775" y="5828767"/>
            <a:ext cx="7962900" cy="712346"/>
          </a:xfrm>
          <a:prstGeom prst="rect">
            <a:avLst/>
          </a:prstGeom>
        </p:spPr>
        <p:txBody>
          <a:bodyPr anchor="t" rtlCol="false" tIns="0" lIns="0" bIns="0" rIns="0">
            <a:spAutoFit/>
          </a:bodyPr>
          <a:lstStyle/>
          <a:p>
            <a:pPr algn="l">
              <a:lnSpc>
                <a:spcPts val="4608"/>
              </a:lnSpc>
            </a:pPr>
            <a:r>
              <a:rPr lang="en-US" sz="2400">
                <a:solidFill>
                  <a:srgbClr val="FFFFFF"/>
                </a:solidFill>
                <a:latin typeface="Comfortaa"/>
                <a:ea typeface="Comfortaa"/>
                <a:cs typeface="Comfortaa"/>
                <a:sym typeface="Comfortaa"/>
              </a:rPr>
              <a:t>Người bố phát điên khi thấy đống đổ nát.</a:t>
            </a:r>
          </a:p>
        </p:txBody>
      </p:sp>
      <p:sp>
        <p:nvSpPr>
          <p:cNvPr name="TextBox 17" id="17"/>
          <p:cNvSpPr txBox="true"/>
          <p:nvPr/>
        </p:nvSpPr>
        <p:spPr>
          <a:xfrm rot="0">
            <a:off x="10010775" y="5141119"/>
            <a:ext cx="6691198" cy="889502"/>
          </a:xfrm>
          <a:prstGeom prst="rect">
            <a:avLst/>
          </a:prstGeom>
        </p:spPr>
        <p:txBody>
          <a:bodyPr anchor="t" rtlCol="false" tIns="0" lIns="0" bIns="0" rIns="0">
            <a:spAutoFit/>
          </a:bodyPr>
          <a:lstStyle/>
          <a:p>
            <a:pPr algn="l">
              <a:lnSpc>
                <a:spcPts val="3311"/>
              </a:lnSpc>
            </a:pPr>
            <a:r>
              <a:rPr lang="en-US" sz="2400">
                <a:solidFill>
                  <a:srgbClr val="FFFFFF"/>
                </a:solidFill>
                <a:latin typeface="Comfortaa"/>
                <a:ea typeface="Comfortaa"/>
                <a:cs typeface="Comfortaa"/>
                <a:sym typeface="Comfortaa"/>
              </a:rPr>
              <a:t>Nhận ra sai lầm khi đối đầu với quy luật tự nhiên.</a:t>
            </a:r>
          </a:p>
        </p:txBody>
      </p:sp>
      <p:sp>
        <p:nvSpPr>
          <p:cNvPr name="TextBox 18" id="18"/>
          <p:cNvSpPr txBox="true"/>
          <p:nvPr/>
        </p:nvSpPr>
        <p:spPr>
          <a:xfrm rot="0">
            <a:off x="10010775" y="6382931"/>
            <a:ext cx="6691198" cy="712346"/>
          </a:xfrm>
          <a:prstGeom prst="rect">
            <a:avLst/>
          </a:prstGeom>
        </p:spPr>
        <p:txBody>
          <a:bodyPr anchor="t" rtlCol="false" tIns="0" lIns="0" bIns="0" rIns="0">
            <a:spAutoFit/>
          </a:bodyPr>
          <a:lstStyle/>
          <a:p>
            <a:pPr algn="l">
              <a:lnSpc>
                <a:spcPts val="4608"/>
              </a:lnSpc>
            </a:pPr>
            <a:r>
              <a:rPr lang="en-US" sz="2400">
                <a:solidFill>
                  <a:srgbClr val="FFFFFF"/>
                </a:solidFill>
                <a:latin typeface="Comfortaa"/>
                <a:ea typeface="Comfortaa"/>
                <a:cs typeface="Comfortaa"/>
                <a:sym typeface="Comfortaa"/>
              </a:rPr>
              <a:t>Nỗi đau đớn và hối hận muộn màng.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9259" r="0" b="-9259"/>
              </a:stretch>
            </a:blipFill>
          </p:spPr>
        </p:sp>
      </p:grpSp>
      <p:sp>
        <p:nvSpPr>
          <p:cNvPr name="TextBox 4" id="4"/>
          <p:cNvSpPr txBox="true"/>
          <p:nvPr/>
        </p:nvSpPr>
        <p:spPr>
          <a:xfrm rot="0">
            <a:off x="857250" y="2200275"/>
            <a:ext cx="8286750" cy="819150"/>
          </a:xfrm>
          <a:prstGeom prst="rect">
            <a:avLst/>
          </a:prstGeom>
        </p:spPr>
        <p:txBody>
          <a:bodyPr anchor="t" rtlCol="false" tIns="0" lIns="0" bIns="0" rIns="0">
            <a:spAutoFit/>
          </a:bodyPr>
          <a:lstStyle/>
          <a:p>
            <a:pPr algn="l">
              <a:lnSpc>
                <a:spcPts val="6480"/>
              </a:lnSpc>
            </a:pPr>
            <a:r>
              <a:rPr lang="en-US" sz="5400" b="true">
                <a:solidFill>
                  <a:srgbClr val="2D5A27"/>
                </a:solidFill>
                <a:latin typeface="Playfair Display Bold"/>
                <a:ea typeface="Playfair Display Bold"/>
                <a:cs typeface="Playfair Display Bold"/>
                <a:sym typeface="Playfair Display Bold"/>
              </a:rPr>
              <a:t>HÌNH TƯỢNG BẦY KIẾN</a:t>
            </a:r>
          </a:p>
        </p:txBody>
      </p:sp>
      <p:grpSp>
        <p:nvGrpSpPr>
          <p:cNvPr name="Group 5" id="5"/>
          <p:cNvGrpSpPr/>
          <p:nvPr/>
        </p:nvGrpSpPr>
        <p:grpSpPr>
          <a:xfrm rot="0">
            <a:off x="571500" y="2200275"/>
            <a:ext cx="114300" cy="1828800"/>
            <a:chOff x="0" y="0"/>
            <a:chExt cx="152400" cy="2438400"/>
          </a:xfrm>
        </p:grpSpPr>
        <p:sp>
          <p:nvSpPr>
            <p:cNvPr name="Freeform 6" id="6"/>
            <p:cNvSpPr/>
            <p:nvPr/>
          </p:nvSpPr>
          <p:spPr>
            <a:xfrm flipH="false" flipV="false" rot="0">
              <a:off x="0" y="0"/>
              <a:ext cx="152400" cy="2438400"/>
            </a:xfrm>
            <a:custGeom>
              <a:avLst/>
              <a:gdLst/>
              <a:ahLst/>
              <a:cxnLst/>
              <a:rect r="r" b="b" t="t" l="l"/>
              <a:pathLst>
                <a:path h="2438400" w="152400">
                  <a:moveTo>
                    <a:pt x="0" y="0"/>
                  </a:moveTo>
                  <a:lnTo>
                    <a:pt x="152400" y="0"/>
                  </a:lnTo>
                  <a:lnTo>
                    <a:pt x="152400" y="2438400"/>
                  </a:lnTo>
                  <a:lnTo>
                    <a:pt x="0" y="2438400"/>
                  </a:lnTo>
                  <a:close/>
                </a:path>
              </a:pathLst>
            </a:custGeom>
            <a:solidFill>
              <a:srgbClr val="C04000"/>
            </a:solidFill>
          </p:spPr>
        </p:sp>
      </p:grpSp>
      <p:sp>
        <p:nvSpPr>
          <p:cNvPr name="TextBox 7" id="7"/>
          <p:cNvSpPr txBox="true"/>
          <p:nvPr/>
        </p:nvSpPr>
        <p:spPr>
          <a:xfrm rot="0">
            <a:off x="1171346" y="2839803"/>
            <a:ext cx="7115404" cy="1511294"/>
          </a:xfrm>
          <a:prstGeom prst="rect">
            <a:avLst/>
          </a:prstGeom>
        </p:spPr>
        <p:txBody>
          <a:bodyPr anchor="t" rtlCol="false" tIns="0" lIns="0" bIns="0" rIns="0">
            <a:spAutoFit/>
          </a:bodyPr>
          <a:lstStyle/>
          <a:p>
            <a:pPr algn="ctr">
              <a:lnSpc>
                <a:spcPts val="5470"/>
              </a:lnSpc>
            </a:pPr>
            <a:r>
              <a:rPr lang="en-US" sz="2850" i="true">
                <a:solidFill>
                  <a:srgbClr val="2D5A27"/>
                </a:solidFill>
                <a:latin typeface="Comfortaa"/>
                <a:ea typeface="Comfortaa"/>
                <a:cs typeface="Comfortaa"/>
                <a:sym typeface="Comfortaa"/>
              </a:rPr>
              <a:t>"Đại diện cho sức mạnh phản kháng của tự nhiên"</a:t>
            </a:r>
          </a:p>
        </p:txBody>
      </p:sp>
      <p:grpSp>
        <p:nvGrpSpPr>
          <p:cNvPr name="Group 8" id="8"/>
          <p:cNvGrpSpPr/>
          <p:nvPr/>
        </p:nvGrpSpPr>
        <p:grpSpPr>
          <a:xfrm rot="0">
            <a:off x="9296400" y="152400"/>
            <a:ext cx="9144000" cy="10287000"/>
            <a:chOff x="0" y="0"/>
            <a:chExt cx="12192000" cy="13716000"/>
          </a:xfrm>
        </p:grpSpPr>
        <p:sp>
          <p:nvSpPr>
            <p:cNvPr name="Freeform 9" id="9" descr="image.png"/>
            <p:cNvSpPr/>
            <p:nvPr/>
          </p:nvSpPr>
          <p:spPr>
            <a:xfrm flipH="false" flipV="false" rot="0">
              <a:off x="0" y="0"/>
              <a:ext cx="12192000" cy="13716000"/>
            </a:xfrm>
            <a:custGeom>
              <a:avLst/>
              <a:gdLst/>
              <a:ahLst/>
              <a:cxnLst/>
              <a:rect r="r" b="b" t="t" l="l"/>
              <a:pathLst>
                <a:path h="13716000" w="12192000">
                  <a:moveTo>
                    <a:pt x="0" y="0"/>
                  </a:moveTo>
                  <a:lnTo>
                    <a:pt x="12192000" y="0"/>
                  </a:lnTo>
                  <a:lnTo>
                    <a:pt x="12192000" y="13716000"/>
                  </a:lnTo>
                  <a:lnTo>
                    <a:pt x="0" y="13716000"/>
                  </a:lnTo>
                  <a:lnTo>
                    <a:pt x="0" y="0"/>
                  </a:lnTo>
                  <a:close/>
                </a:path>
              </a:pathLst>
            </a:custGeom>
            <a:blipFill>
              <a:blip r:embed="rId3"/>
              <a:stretch>
                <a:fillRect l="0" t="0" r="0" b="0"/>
              </a:stretch>
            </a:blipFill>
          </p:spPr>
        </p:sp>
      </p:grpSp>
      <p:grpSp>
        <p:nvGrpSpPr>
          <p:cNvPr name="Group 10" id="10"/>
          <p:cNvGrpSpPr/>
          <p:nvPr/>
        </p:nvGrpSpPr>
        <p:grpSpPr>
          <a:xfrm rot="0">
            <a:off x="566185" y="4330284"/>
            <a:ext cx="8375799" cy="4953229"/>
            <a:chOff x="0" y="0"/>
            <a:chExt cx="11167732" cy="6604305"/>
          </a:xfrm>
        </p:grpSpPr>
        <p:sp>
          <p:nvSpPr>
            <p:cNvPr name="Freeform 11" id="11" descr="image.png"/>
            <p:cNvSpPr/>
            <p:nvPr/>
          </p:nvSpPr>
          <p:spPr>
            <a:xfrm flipH="false" flipV="false" rot="0">
              <a:off x="0" y="0"/>
              <a:ext cx="11167745" cy="6604381"/>
            </a:xfrm>
            <a:custGeom>
              <a:avLst/>
              <a:gdLst/>
              <a:ahLst/>
              <a:cxnLst/>
              <a:rect r="r" b="b" t="t" l="l"/>
              <a:pathLst>
                <a:path h="6604381" w="11167745">
                  <a:moveTo>
                    <a:pt x="651510" y="0"/>
                  </a:moveTo>
                  <a:lnTo>
                    <a:pt x="10516235" y="0"/>
                  </a:lnTo>
                  <a:cubicBezTo>
                    <a:pt x="10876026" y="0"/>
                    <a:pt x="11167745" y="427355"/>
                    <a:pt x="11167745" y="954659"/>
                  </a:cubicBezTo>
                  <a:lnTo>
                    <a:pt x="11167745" y="5649722"/>
                  </a:lnTo>
                  <a:cubicBezTo>
                    <a:pt x="11167745" y="6176899"/>
                    <a:pt x="10876026" y="6604381"/>
                    <a:pt x="10516235" y="6604381"/>
                  </a:cubicBezTo>
                  <a:lnTo>
                    <a:pt x="651510" y="6604381"/>
                  </a:lnTo>
                  <a:cubicBezTo>
                    <a:pt x="291719" y="6604254"/>
                    <a:pt x="0" y="6176899"/>
                    <a:pt x="0" y="5649722"/>
                  </a:cubicBezTo>
                  <a:lnTo>
                    <a:pt x="0" y="954659"/>
                  </a:lnTo>
                  <a:cubicBezTo>
                    <a:pt x="0" y="427355"/>
                    <a:pt x="291719" y="0"/>
                    <a:pt x="651510" y="0"/>
                  </a:cubicBezTo>
                  <a:close/>
                </a:path>
              </a:pathLst>
            </a:custGeom>
            <a:solidFill>
              <a:srgbClr val="374D34">
                <a:alpha val="41569"/>
              </a:srgbClr>
            </a:solidFill>
          </p:spPr>
        </p:sp>
      </p:grpSp>
      <p:sp>
        <p:nvSpPr>
          <p:cNvPr name="TextBox 12" id="12"/>
          <p:cNvSpPr txBox="true"/>
          <p:nvPr/>
        </p:nvSpPr>
        <p:spPr>
          <a:xfrm rot="0">
            <a:off x="857250" y="4305300"/>
            <a:ext cx="8058150" cy="2339083"/>
          </a:xfrm>
          <a:prstGeom prst="rect">
            <a:avLst/>
          </a:prstGeom>
        </p:spPr>
        <p:txBody>
          <a:bodyPr anchor="t" rtlCol="false" tIns="0" lIns="0" bIns="0" rIns="0">
            <a:spAutoFit/>
          </a:bodyPr>
          <a:lstStyle/>
          <a:p>
            <a:pPr algn="l">
              <a:lnSpc>
                <a:spcPts val="4320"/>
              </a:lnSpc>
            </a:pPr>
            <a:r>
              <a:rPr lang="en-US" sz="2400">
                <a:solidFill>
                  <a:srgbClr val="FFFFFF"/>
                </a:solidFill>
                <a:latin typeface="Montserrat"/>
                <a:ea typeface="Montserrat"/>
                <a:cs typeface="Montserrat"/>
                <a:sym typeface="Montserrat"/>
              </a:rPr>
              <a:t>Bầy kiến biểu tượng cho quy luật tự nhiên. Khi bị bứt ra khỏi đời sống thuận tự nhiên, chúng sẽ quay lại tiêu diệt bất cứ thứ gì làm hại đến môi trường sống của chúng.</a:t>
            </a:r>
          </a:p>
        </p:txBody>
      </p:sp>
      <p:sp>
        <p:nvSpPr>
          <p:cNvPr name="TextBox 13" id="13"/>
          <p:cNvSpPr txBox="true"/>
          <p:nvPr/>
        </p:nvSpPr>
        <p:spPr>
          <a:xfrm rot="0">
            <a:off x="857250" y="6490335"/>
            <a:ext cx="7429500" cy="2339083"/>
          </a:xfrm>
          <a:prstGeom prst="rect">
            <a:avLst/>
          </a:prstGeom>
        </p:spPr>
        <p:txBody>
          <a:bodyPr anchor="t" rtlCol="false" tIns="0" lIns="0" bIns="0" rIns="0">
            <a:spAutoFit/>
          </a:bodyPr>
          <a:lstStyle/>
          <a:p>
            <a:pPr algn="l">
              <a:lnSpc>
                <a:spcPts val="4320"/>
              </a:lnSpc>
            </a:pPr>
            <a:r>
              <a:rPr lang="en-US" sz="2400">
                <a:solidFill>
                  <a:srgbClr val="FFFFFF"/>
                </a:solidFill>
                <a:latin typeface="Montserrat"/>
                <a:ea typeface="Montserrat"/>
                <a:cs typeface="Montserrat"/>
                <a:sym typeface="Montserrat"/>
              </a:rPr>
              <a:t>=&gt;&gt; Yếu tố hư cấu, tưởng tượng giúp thức tỉnh nhận thức con người: Nếu con người đi ngược quy luật, thiên nhiên sẽ phản kháng và tiêu diệt kẻ làm hại mình.</a:t>
            </a:r>
          </a:p>
        </p:txBody>
      </p:sp>
      <p:sp>
        <p:nvSpPr>
          <p:cNvPr name="TextBox 14" id="14"/>
          <p:cNvSpPr txBox="true"/>
          <p:nvPr/>
        </p:nvSpPr>
        <p:spPr>
          <a:xfrm rot="0">
            <a:off x="867880" y="2167890"/>
            <a:ext cx="8286750" cy="819150"/>
          </a:xfrm>
          <a:prstGeom prst="rect">
            <a:avLst/>
          </a:prstGeom>
        </p:spPr>
        <p:txBody>
          <a:bodyPr anchor="t" rtlCol="false" tIns="0" lIns="0" bIns="0" rIns="0">
            <a:spAutoFit/>
          </a:bodyPr>
          <a:lstStyle/>
          <a:p>
            <a:pPr algn="l">
              <a:lnSpc>
                <a:spcPts val="6480"/>
              </a:lnSpc>
            </a:pPr>
            <a:r>
              <a:rPr lang="en-US" sz="5400" b="true">
                <a:solidFill>
                  <a:srgbClr val="2D5A27"/>
                </a:solidFill>
                <a:latin typeface="Playfair Display Bold"/>
                <a:ea typeface="Playfair Display Bold"/>
                <a:cs typeface="Playfair Display Bold"/>
                <a:sym typeface="Playfair Display Bold"/>
              </a:rPr>
              <a:t>HÌNH TƯỢNG BẦY KIẾN</a:t>
            </a:r>
          </a:p>
        </p:txBody>
      </p:sp>
      <p:grpSp>
        <p:nvGrpSpPr>
          <p:cNvPr name="Group 15" id="15"/>
          <p:cNvGrpSpPr/>
          <p:nvPr/>
        </p:nvGrpSpPr>
        <p:grpSpPr>
          <a:xfrm rot="0">
            <a:off x="582130" y="2167890"/>
            <a:ext cx="114300" cy="1828800"/>
            <a:chOff x="0" y="0"/>
            <a:chExt cx="152400" cy="2438400"/>
          </a:xfrm>
        </p:grpSpPr>
        <p:sp>
          <p:nvSpPr>
            <p:cNvPr name="Freeform 16" id="16"/>
            <p:cNvSpPr/>
            <p:nvPr/>
          </p:nvSpPr>
          <p:spPr>
            <a:xfrm flipH="false" flipV="false" rot="0">
              <a:off x="0" y="0"/>
              <a:ext cx="152400" cy="2438400"/>
            </a:xfrm>
            <a:custGeom>
              <a:avLst/>
              <a:gdLst/>
              <a:ahLst/>
              <a:cxnLst/>
              <a:rect r="r" b="b" t="t" l="l"/>
              <a:pathLst>
                <a:path h="2438400" w="152400">
                  <a:moveTo>
                    <a:pt x="0" y="0"/>
                  </a:moveTo>
                  <a:lnTo>
                    <a:pt x="152400" y="0"/>
                  </a:lnTo>
                  <a:lnTo>
                    <a:pt x="152400" y="2438400"/>
                  </a:lnTo>
                  <a:lnTo>
                    <a:pt x="0" y="2438400"/>
                  </a:lnTo>
                  <a:close/>
                </a:path>
              </a:pathLst>
            </a:custGeom>
            <a:solidFill>
              <a:srgbClr val="C04000"/>
            </a:solidFill>
          </p:spPr>
        </p:sp>
      </p:grpSp>
      <p:sp>
        <p:nvSpPr>
          <p:cNvPr name="TextBox 17" id="17"/>
          <p:cNvSpPr txBox="true"/>
          <p:nvPr/>
        </p:nvSpPr>
        <p:spPr>
          <a:xfrm rot="0">
            <a:off x="1181976" y="2807418"/>
            <a:ext cx="7115404" cy="1511294"/>
          </a:xfrm>
          <a:prstGeom prst="rect">
            <a:avLst/>
          </a:prstGeom>
        </p:spPr>
        <p:txBody>
          <a:bodyPr anchor="t" rtlCol="false" tIns="0" lIns="0" bIns="0" rIns="0">
            <a:spAutoFit/>
          </a:bodyPr>
          <a:lstStyle/>
          <a:p>
            <a:pPr algn="ctr">
              <a:lnSpc>
                <a:spcPts val="5470"/>
              </a:lnSpc>
            </a:pPr>
            <a:r>
              <a:rPr lang="en-US" sz="2850" i="true">
                <a:solidFill>
                  <a:srgbClr val="2D5A27"/>
                </a:solidFill>
                <a:latin typeface="Comfortaa"/>
                <a:ea typeface="Comfortaa"/>
                <a:cs typeface="Comfortaa"/>
                <a:sym typeface="Comfortaa"/>
              </a:rPr>
              <a:t>"Đại diện cho sức mạnh phản kháng của tự nhiên"</a:t>
            </a:r>
          </a:p>
        </p:txBody>
      </p:sp>
      <p:sp>
        <p:nvSpPr>
          <p:cNvPr name="TextBox 18" id="18"/>
          <p:cNvSpPr txBox="true"/>
          <p:nvPr/>
        </p:nvSpPr>
        <p:spPr>
          <a:xfrm rot="0">
            <a:off x="867880" y="4272915"/>
            <a:ext cx="8058150" cy="2339083"/>
          </a:xfrm>
          <a:prstGeom prst="rect">
            <a:avLst/>
          </a:prstGeom>
        </p:spPr>
        <p:txBody>
          <a:bodyPr anchor="t" rtlCol="false" tIns="0" lIns="0" bIns="0" rIns="0">
            <a:spAutoFit/>
          </a:bodyPr>
          <a:lstStyle/>
          <a:p>
            <a:pPr algn="l">
              <a:lnSpc>
                <a:spcPts val="4320"/>
              </a:lnSpc>
            </a:pPr>
            <a:r>
              <a:rPr lang="en-US" sz="2400">
                <a:solidFill>
                  <a:srgbClr val="FFFFFF"/>
                </a:solidFill>
                <a:latin typeface="Montserrat"/>
                <a:ea typeface="Montserrat"/>
                <a:cs typeface="Montserrat"/>
                <a:sym typeface="Montserrat"/>
              </a:rPr>
              <a:t>Bầy kiến biểu tượng cho quy luật tự nhiên. Khi bị bứt ra khỏi đời sống thuận tự nhiên, chúng sẽ quay lại tiêu diệt bất cứ thứ gì làm hại đến môi trường sống của chúng.</a:t>
            </a:r>
          </a:p>
        </p:txBody>
      </p:sp>
      <p:sp>
        <p:nvSpPr>
          <p:cNvPr name="TextBox 19" id="19"/>
          <p:cNvSpPr txBox="true"/>
          <p:nvPr/>
        </p:nvSpPr>
        <p:spPr>
          <a:xfrm rot="0">
            <a:off x="867880" y="6457950"/>
            <a:ext cx="7429500" cy="2339083"/>
          </a:xfrm>
          <a:prstGeom prst="rect">
            <a:avLst/>
          </a:prstGeom>
        </p:spPr>
        <p:txBody>
          <a:bodyPr anchor="t" rtlCol="false" tIns="0" lIns="0" bIns="0" rIns="0">
            <a:spAutoFit/>
          </a:bodyPr>
          <a:lstStyle/>
          <a:p>
            <a:pPr algn="l">
              <a:lnSpc>
                <a:spcPts val="4320"/>
              </a:lnSpc>
            </a:pPr>
            <a:r>
              <a:rPr lang="en-US" sz="2400">
                <a:solidFill>
                  <a:srgbClr val="FFFFFF"/>
                </a:solidFill>
                <a:latin typeface="Montserrat"/>
                <a:ea typeface="Montserrat"/>
                <a:cs typeface="Montserrat"/>
                <a:sym typeface="Montserrat"/>
              </a:rPr>
              <a:t>=&gt;&gt; Yếu tố hư cấu, tưởng tượng giúp thức tỉnh nhận thức con người: Nếu con người đi ngược quy luật, thiên nhiên sẽ phản kháng và tiêu diệt kẻ làm hại mình.</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9259" r="0" b="-9259"/>
              </a:stretch>
            </a:blipFill>
          </p:spPr>
        </p:sp>
      </p:grpSp>
      <p:grpSp>
        <p:nvGrpSpPr>
          <p:cNvPr name="Group 4" id="4"/>
          <p:cNvGrpSpPr/>
          <p:nvPr/>
        </p:nvGrpSpPr>
        <p:grpSpPr>
          <a:xfrm rot="0">
            <a:off x="2743200" y="3541643"/>
            <a:ext cx="12725400" cy="4562627"/>
            <a:chOff x="0" y="0"/>
            <a:chExt cx="16967200" cy="6083503"/>
          </a:xfrm>
        </p:grpSpPr>
        <p:sp>
          <p:nvSpPr>
            <p:cNvPr name="Freeform 5" id="5" descr="image.png"/>
            <p:cNvSpPr/>
            <p:nvPr/>
          </p:nvSpPr>
          <p:spPr>
            <a:xfrm flipH="false" flipV="false" rot="0">
              <a:off x="0" y="0"/>
              <a:ext cx="16967200" cy="6083554"/>
            </a:xfrm>
            <a:custGeom>
              <a:avLst/>
              <a:gdLst/>
              <a:ahLst/>
              <a:cxnLst/>
              <a:rect r="r" b="b" t="t" l="l"/>
              <a:pathLst>
                <a:path h="6083554" w="16967200">
                  <a:moveTo>
                    <a:pt x="989711" y="0"/>
                  </a:moveTo>
                  <a:lnTo>
                    <a:pt x="15977488" y="0"/>
                  </a:lnTo>
                  <a:cubicBezTo>
                    <a:pt x="16524097" y="0"/>
                    <a:pt x="16967200" y="393700"/>
                    <a:pt x="16967200" y="879348"/>
                  </a:cubicBezTo>
                  <a:lnTo>
                    <a:pt x="16967200" y="5204206"/>
                  </a:lnTo>
                  <a:cubicBezTo>
                    <a:pt x="16967200" y="5689854"/>
                    <a:pt x="16524097" y="6083554"/>
                    <a:pt x="15977488" y="6083554"/>
                  </a:cubicBezTo>
                  <a:lnTo>
                    <a:pt x="989711" y="6083554"/>
                  </a:lnTo>
                  <a:cubicBezTo>
                    <a:pt x="443103" y="6083554"/>
                    <a:pt x="0" y="5689854"/>
                    <a:pt x="0" y="5204206"/>
                  </a:cubicBezTo>
                  <a:lnTo>
                    <a:pt x="0" y="879348"/>
                  </a:lnTo>
                  <a:cubicBezTo>
                    <a:pt x="0" y="393700"/>
                    <a:pt x="443103" y="0"/>
                    <a:pt x="989711" y="0"/>
                  </a:cubicBezTo>
                  <a:close/>
                </a:path>
              </a:pathLst>
            </a:custGeom>
            <a:solidFill>
              <a:srgbClr val="374D34">
                <a:alpha val="41569"/>
              </a:srgbClr>
            </a:solidFill>
          </p:spPr>
        </p:sp>
      </p:grpSp>
      <p:sp>
        <p:nvSpPr>
          <p:cNvPr name="TextBox 6" id="6"/>
          <p:cNvSpPr txBox="true"/>
          <p:nvPr/>
        </p:nvSpPr>
        <p:spPr>
          <a:xfrm rot="0">
            <a:off x="1143000" y="857250"/>
            <a:ext cx="17102138" cy="914400"/>
          </a:xfrm>
          <a:prstGeom prst="rect">
            <a:avLst/>
          </a:prstGeom>
        </p:spPr>
        <p:txBody>
          <a:bodyPr anchor="t" rtlCol="false" tIns="0" lIns="0" bIns="0" rIns="0">
            <a:spAutoFit/>
          </a:bodyPr>
          <a:lstStyle/>
          <a:p>
            <a:pPr algn="l">
              <a:lnSpc>
                <a:spcPts val="6480"/>
              </a:lnSpc>
            </a:pPr>
            <a:r>
              <a:rPr lang="en-US" sz="5400" b="true">
                <a:solidFill>
                  <a:srgbClr val="2D5A27"/>
                </a:solidFill>
                <a:latin typeface="Playfair Display Bold"/>
                <a:ea typeface="Playfair Display Bold"/>
                <a:cs typeface="Playfair Display Bold"/>
                <a:sym typeface="Playfair Display Bold"/>
              </a:rPr>
              <a:t>Ý NGHĨA NHAN ĐỀ</a:t>
            </a:r>
          </a:p>
        </p:txBody>
      </p:sp>
      <p:grpSp>
        <p:nvGrpSpPr>
          <p:cNvPr name="Group 7" id="7"/>
          <p:cNvGrpSpPr/>
          <p:nvPr/>
        </p:nvGrpSpPr>
        <p:grpSpPr>
          <a:xfrm rot="0">
            <a:off x="857250" y="857250"/>
            <a:ext cx="114300" cy="914400"/>
            <a:chOff x="0" y="0"/>
            <a:chExt cx="152400" cy="1219200"/>
          </a:xfrm>
        </p:grpSpPr>
        <p:sp>
          <p:nvSpPr>
            <p:cNvPr name="Freeform 8" id="8"/>
            <p:cNvSpPr/>
            <p:nvPr/>
          </p:nvSpPr>
          <p:spPr>
            <a:xfrm flipH="false" flipV="false" rot="0">
              <a:off x="0" y="0"/>
              <a:ext cx="152400" cy="1219200"/>
            </a:xfrm>
            <a:custGeom>
              <a:avLst/>
              <a:gdLst/>
              <a:ahLst/>
              <a:cxnLst/>
              <a:rect r="r" b="b" t="t" l="l"/>
              <a:pathLst>
                <a:path h="1219200" w="152400">
                  <a:moveTo>
                    <a:pt x="0" y="0"/>
                  </a:moveTo>
                  <a:lnTo>
                    <a:pt x="152400" y="0"/>
                  </a:lnTo>
                  <a:lnTo>
                    <a:pt x="152400" y="1219200"/>
                  </a:lnTo>
                  <a:lnTo>
                    <a:pt x="0" y="1219200"/>
                  </a:lnTo>
                  <a:close/>
                </a:path>
              </a:pathLst>
            </a:custGeom>
            <a:solidFill>
              <a:srgbClr val="C04000"/>
            </a:solidFill>
          </p:spPr>
        </p:sp>
      </p:grpSp>
      <p:sp>
        <p:nvSpPr>
          <p:cNvPr name="TextBox 9" id="9"/>
          <p:cNvSpPr txBox="true"/>
          <p:nvPr/>
        </p:nvSpPr>
        <p:spPr>
          <a:xfrm rot="0">
            <a:off x="3729038" y="3757612"/>
            <a:ext cx="11401654" cy="1285494"/>
          </a:xfrm>
          <a:prstGeom prst="rect">
            <a:avLst/>
          </a:prstGeom>
        </p:spPr>
        <p:txBody>
          <a:bodyPr anchor="t" rtlCol="false" tIns="0" lIns="0" bIns="0" rIns="0">
            <a:spAutoFit/>
          </a:bodyPr>
          <a:lstStyle/>
          <a:p>
            <a:pPr algn="l">
              <a:lnSpc>
                <a:spcPts val="4608"/>
              </a:lnSpc>
            </a:pPr>
            <a:r>
              <a:rPr lang="en-US" sz="2400" b="true">
                <a:solidFill>
                  <a:srgbClr val="FFFFFF"/>
                </a:solidFill>
                <a:latin typeface="Comfortaa Bold"/>
                <a:ea typeface="Comfortaa Bold"/>
                <a:cs typeface="Comfortaa Bold"/>
                <a:sym typeface="Comfortaa Bold"/>
              </a:rPr>
              <a:t>Vị thế ngang hàng:</a:t>
            </a:r>
            <a:r>
              <a:rPr lang="en-US" sz="2400">
                <a:solidFill>
                  <a:srgbClr val="FFFFFF"/>
                </a:solidFill>
                <a:latin typeface="Comfortaa"/>
                <a:ea typeface="Comfortaa"/>
                <a:cs typeface="Comfortaa"/>
                <a:sym typeface="Comfortaa"/>
              </a:rPr>
              <a:t> Thiên nhiên (Kiến) và Con người được đặt cạnh nhau, không có bên nào thượng đẳng hơn.</a:t>
            </a:r>
          </a:p>
        </p:txBody>
      </p:sp>
      <p:sp>
        <p:nvSpPr>
          <p:cNvPr name="TextBox 10" id="10"/>
          <p:cNvSpPr txBox="true"/>
          <p:nvPr/>
        </p:nvSpPr>
        <p:spPr>
          <a:xfrm rot="0">
            <a:off x="3729038" y="5029200"/>
            <a:ext cx="11401654" cy="1303201"/>
          </a:xfrm>
          <a:prstGeom prst="rect">
            <a:avLst/>
          </a:prstGeom>
        </p:spPr>
        <p:txBody>
          <a:bodyPr anchor="t" rtlCol="false" tIns="0" lIns="0" bIns="0" rIns="0">
            <a:spAutoFit/>
          </a:bodyPr>
          <a:lstStyle/>
          <a:p>
            <a:pPr algn="l">
              <a:lnSpc>
                <a:spcPts val="4608"/>
              </a:lnSpc>
            </a:pPr>
            <a:r>
              <a:rPr lang="en-US" sz="2400" b="true">
                <a:solidFill>
                  <a:srgbClr val="FFFFFF"/>
                </a:solidFill>
                <a:latin typeface="Comfortaa Bold"/>
                <a:ea typeface="Comfortaa Bold"/>
                <a:cs typeface="Comfortaa Bold"/>
                <a:sym typeface="Comfortaa Bold"/>
              </a:rPr>
              <a:t>Quan hệ tương hỗ:</a:t>
            </a:r>
            <a:r>
              <a:rPr lang="en-US" sz="2400">
                <a:solidFill>
                  <a:srgbClr val="FFFFFF"/>
                </a:solidFill>
                <a:latin typeface="Comfortaa"/>
                <a:ea typeface="Comfortaa"/>
                <a:cs typeface="Comfortaa"/>
                <a:sym typeface="Comfortaa"/>
              </a:rPr>
              <a:t> Từ nối “VÀ” khẳng định mối quan hệ cộng sinh, công bằng giữa các chủ thể trên Trái Đất.</a:t>
            </a:r>
          </a:p>
        </p:txBody>
      </p:sp>
      <p:sp>
        <p:nvSpPr>
          <p:cNvPr name="TextBox 11" id="11"/>
          <p:cNvSpPr txBox="true"/>
          <p:nvPr/>
        </p:nvSpPr>
        <p:spPr>
          <a:xfrm rot="0">
            <a:off x="3729038" y="6300788"/>
            <a:ext cx="11401654" cy="1303201"/>
          </a:xfrm>
          <a:prstGeom prst="rect">
            <a:avLst/>
          </a:prstGeom>
        </p:spPr>
        <p:txBody>
          <a:bodyPr anchor="t" rtlCol="false" tIns="0" lIns="0" bIns="0" rIns="0">
            <a:spAutoFit/>
          </a:bodyPr>
          <a:lstStyle/>
          <a:p>
            <a:pPr algn="l">
              <a:lnSpc>
                <a:spcPts val="4608"/>
              </a:lnSpc>
            </a:pPr>
            <a:r>
              <a:rPr lang="en-US" sz="2400" b="true">
                <a:solidFill>
                  <a:srgbClr val="FFFFFF"/>
                </a:solidFill>
                <a:latin typeface="Comfortaa Bold"/>
                <a:ea typeface="Comfortaa Bold"/>
                <a:cs typeface="Comfortaa Bold"/>
                <a:sym typeface="Comfortaa Bold"/>
              </a:rPr>
              <a:t>Trật tự ưu tiên:</a:t>
            </a:r>
            <a:r>
              <a:rPr lang="en-US" sz="2400">
                <a:solidFill>
                  <a:srgbClr val="FFFFFF"/>
                </a:solidFill>
                <a:latin typeface="Comfortaa"/>
                <a:ea typeface="Comfortaa"/>
                <a:cs typeface="Comfortaa"/>
                <a:sym typeface="Comfortaa"/>
              </a:rPr>
              <a:t> Đặt “Kiến” trước “Người” như một lời nhắc nhở cần quan tâm đến môi trường sống trước khi nghĩ đến lợi ích cá nhân.</a:t>
            </a:r>
          </a:p>
        </p:txBody>
      </p:sp>
      <p:grpSp>
        <p:nvGrpSpPr>
          <p:cNvPr name="Group 12" id="12"/>
          <p:cNvGrpSpPr/>
          <p:nvPr/>
        </p:nvGrpSpPr>
        <p:grpSpPr>
          <a:xfrm rot="0">
            <a:off x="3157518" y="4100512"/>
            <a:ext cx="428625" cy="371475"/>
            <a:chOff x="0" y="0"/>
            <a:chExt cx="571500" cy="495300"/>
          </a:xfrm>
        </p:grpSpPr>
        <p:sp>
          <p:nvSpPr>
            <p:cNvPr name="Freeform 13" id="13" descr="image.png"/>
            <p:cNvSpPr/>
            <p:nvPr/>
          </p:nvSpPr>
          <p:spPr>
            <a:xfrm flipH="false" flipV="false" rot="0">
              <a:off x="0" y="0"/>
              <a:ext cx="571500" cy="495300"/>
            </a:xfrm>
            <a:custGeom>
              <a:avLst/>
              <a:gdLst/>
              <a:ahLst/>
              <a:cxnLst/>
              <a:rect r="r" b="b" t="t" l="l"/>
              <a:pathLst>
                <a:path h="495300" w="571500">
                  <a:moveTo>
                    <a:pt x="0" y="0"/>
                  </a:moveTo>
                  <a:lnTo>
                    <a:pt x="571500" y="0"/>
                  </a:lnTo>
                  <a:lnTo>
                    <a:pt x="571500" y="495300"/>
                  </a:lnTo>
                  <a:lnTo>
                    <a:pt x="0" y="495300"/>
                  </a:lnTo>
                  <a:lnTo>
                    <a:pt x="0" y="0"/>
                  </a:lnTo>
                  <a:close/>
                </a:path>
              </a:pathLst>
            </a:custGeom>
            <a:blipFill>
              <a:blip r:embed="rId3"/>
              <a:stretch>
                <a:fillRect l="0" t="0" r="0" b="0"/>
              </a:stretch>
            </a:blipFill>
          </p:spPr>
        </p:sp>
      </p:grpSp>
      <p:grpSp>
        <p:nvGrpSpPr>
          <p:cNvPr name="Group 14" id="14"/>
          <p:cNvGrpSpPr/>
          <p:nvPr/>
        </p:nvGrpSpPr>
        <p:grpSpPr>
          <a:xfrm rot="0">
            <a:off x="3157538" y="5372100"/>
            <a:ext cx="428625" cy="371475"/>
            <a:chOff x="0" y="0"/>
            <a:chExt cx="571500" cy="495300"/>
          </a:xfrm>
        </p:grpSpPr>
        <p:sp>
          <p:nvSpPr>
            <p:cNvPr name="Freeform 15" id="15" descr="image.png"/>
            <p:cNvSpPr/>
            <p:nvPr/>
          </p:nvSpPr>
          <p:spPr>
            <a:xfrm flipH="false" flipV="false" rot="0">
              <a:off x="0" y="0"/>
              <a:ext cx="571500" cy="495300"/>
            </a:xfrm>
            <a:custGeom>
              <a:avLst/>
              <a:gdLst/>
              <a:ahLst/>
              <a:cxnLst/>
              <a:rect r="r" b="b" t="t" l="l"/>
              <a:pathLst>
                <a:path h="495300" w="571500">
                  <a:moveTo>
                    <a:pt x="0" y="0"/>
                  </a:moveTo>
                  <a:lnTo>
                    <a:pt x="571500" y="0"/>
                  </a:lnTo>
                  <a:lnTo>
                    <a:pt x="571500" y="495300"/>
                  </a:lnTo>
                  <a:lnTo>
                    <a:pt x="0" y="495300"/>
                  </a:lnTo>
                  <a:lnTo>
                    <a:pt x="0" y="0"/>
                  </a:lnTo>
                  <a:close/>
                </a:path>
              </a:pathLst>
            </a:custGeom>
            <a:blipFill>
              <a:blip r:embed="rId4"/>
              <a:stretch>
                <a:fillRect l="0" t="0" r="0" b="0"/>
              </a:stretch>
            </a:blipFill>
          </p:spPr>
        </p:sp>
      </p:grpSp>
      <p:grpSp>
        <p:nvGrpSpPr>
          <p:cNvPr name="Group 16" id="16"/>
          <p:cNvGrpSpPr/>
          <p:nvPr/>
        </p:nvGrpSpPr>
        <p:grpSpPr>
          <a:xfrm rot="0">
            <a:off x="3178969" y="6562573"/>
            <a:ext cx="385762" cy="371475"/>
            <a:chOff x="0" y="0"/>
            <a:chExt cx="514350" cy="495300"/>
          </a:xfrm>
        </p:grpSpPr>
        <p:sp>
          <p:nvSpPr>
            <p:cNvPr name="Freeform 17" id="17" descr="image.png"/>
            <p:cNvSpPr/>
            <p:nvPr/>
          </p:nvSpPr>
          <p:spPr>
            <a:xfrm flipH="false" flipV="false" rot="0">
              <a:off x="0" y="0"/>
              <a:ext cx="514350" cy="495300"/>
            </a:xfrm>
            <a:custGeom>
              <a:avLst/>
              <a:gdLst/>
              <a:ahLst/>
              <a:cxnLst/>
              <a:rect r="r" b="b" t="t" l="l"/>
              <a:pathLst>
                <a:path h="495300" w="514350">
                  <a:moveTo>
                    <a:pt x="0" y="0"/>
                  </a:moveTo>
                  <a:lnTo>
                    <a:pt x="514350" y="0"/>
                  </a:lnTo>
                  <a:lnTo>
                    <a:pt x="514350" y="495300"/>
                  </a:lnTo>
                  <a:lnTo>
                    <a:pt x="0" y="495300"/>
                  </a:lnTo>
                  <a:lnTo>
                    <a:pt x="0" y="0"/>
                  </a:lnTo>
                  <a:close/>
                </a:path>
              </a:pathLst>
            </a:custGeom>
            <a:blipFill>
              <a:blip r:embed="rId5"/>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9259" r="0" b="-9259"/>
              </a:stretch>
            </a:blipFill>
          </p:spPr>
        </p:sp>
      </p:grpSp>
      <p:grpSp>
        <p:nvGrpSpPr>
          <p:cNvPr name="Group 4" id="4"/>
          <p:cNvGrpSpPr/>
          <p:nvPr/>
        </p:nvGrpSpPr>
        <p:grpSpPr>
          <a:xfrm rot="0">
            <a:off x="857250" y="857250"/>
            <a:ext cx="16573500" cy="8572500"/>
            <a:chOff x="0" y="0"/>
            <a:chExt cx="22098000" cy="11430000"/>
          </a:xfrm>
        </p:grpSpPr>
        <p:sp>
          <p:nvSpPr>
            <p:cNvPr name="Freeform 5" id="5" descr="image.png"/>
            <p:cNvSpPr/>
            <p:nvPr/>
          </p:nvSpPr>
          <p:spPr>
            <a:xfrm flipH="false" flipV="false" rot="0">
              <a:off x="0" y="0"/>
              <a:ext cx="22098000" cy="11430000"/>
            </a:xfrm>
            <a:custGeom>
              <a:avLst/>
              <a:gdLst/>
              <a:ahLst/>
              <a:cxnLst/>
              <a:rect r="r" b="b" t="t" l="l"/>
              <a:pathLst>
                <a:path h="11430000" w="22098000">
                  <a:moveTo>
                    <a:pt x="546100" y="0"/>
                  </a:moveTo>
                  <a:lnTo>
                    <a:pt x="21551900" y="0"/>
                  </a:lnTo>
                  <a:cubicBezTo>
                    <a:pt x="21853525" y="0"/>
                    <a:pt x="22098000" y="244475"/>
                    <a:pt x="22098000" y="546100"/>
                  </a:cubicBezTo>
                  <a:lnTo>
                    <a:pt x="22098000" y="10883900"/>
                  </a:lnTo>
                  <a:cubicBezTo>
                    <a:pt x="22098000" y="11185525"/>
                    <a:pt x="21853525" y="11430000"/>
                    <a:pt x="21551900" y="11430000"/>
                  </a:cubicBezTo>
                  <a:lnTo>
                    <a:pt x="546100" y="11430000"/>
                  </a:lnTo>
                  <a:cubicBezTo>
                    <a:pt x="244475" y="11430000"/>
                    <a:pt x="0" y="11185525"/>
                    <a:pt x="0" y="10883900"/>
                  </a:cubicBezTo>
                  <a:lnTo>
                    <a:pt x="0" y="546100"/>
                  </a:lnTo>
                  <a:cubicBezTo>
                    <a:pt x="0" y="244475"/>
                    <a:pt x="244475" y="0"/>
                    <a:pt x="546100" y="0"/>
                  </a:cubicBezTo>
                  <a:close/>
                </a:path>
              </a:pathLst>
            </a:custGeom>
            <a:blipFill>
              <a:blip r:embed="rId3"/>
              <a:stretch>
                <a:fillRect l="0" t="0" r="0" b="0"/>
              </a:stretch>
            </a:blipFill>
          </p:spPr>
        </p:sp>
      </p:grpSp>
      <p:sp>
        <p:nvSpPr>
          <p:cNvPr name="TextBox 6" id="6"/>
          <p:cNvSpPr txBox="true"/>
          <p:nvPr/>
        </p:nvSpPr>
        <p:spPr>
          <a:xfrm rot="0">
            <a:off x="592931" y="2127180"/>
            <a:ext cx="17102138" cy="914400"/>
          </a:xfrm>
          <a:prstGeom prst="rect">
            <a:avLst/>
          </a:prstGeom>
        </p:spPr>
        <p:txBody>
          <a:bodyPr anchor="t" rtlCol="false" tIns="0" lIns="0" bIns="0" rIns="0">
            <a:spAutoFit/>
          </a:bodyPr>
          <a:lstStyle/>
          <a:p>
            <a:pPr algn="ctr">
              <a:lnSpc>
                <a:spcPts val="6480"/>
              </a:lnSpc>
            </a:pPr>
            <a:r>
              <a:rPr lang="en-US" sz="5400" b="true">
                <a:solidFill>
                  <a:srgbClr val="2D5A27"/>
                </a:solidFill>
                <a:latin typeface="Playfair Display Bold"/>
                <a:ea typeface="Playfair Display Bold"/>
                <a:cs typeface="Playfair Display Bold"/>
                <a:sym typeface="Playfair Display Bold"/>
              </a:rPr>
              <a:t>THÔNG ĐIỆP GỬI GẮM</a:t>
            </a:r>
          </a:p>
        </p:txBody>
      </p:sp>
      <p:sp>
        <p:nvSpPr>
          <p:cNvPr name="TextBox 7" id="7"/>
          <p:cNvSpPr txBox="true"/>
          <p:nvPr/>
        </p:nvSpPr>
        <p:spPr>
          <a:xfrm rot="0">
            <a:off x="2714625" y="3490008"/>
            <a:ext cx="12858750" cy="2182863"/>
          </a:xfrm>
          <a:prstGeom prst="rect">
            <a:avLst/>
          </a:prstGeom>
        </p:spPr>
        <p:txBody>
          <a:bodyPr anchor="t" rtlCol="false" tIns="0" lIns="0" bIns="0" rIns="0">
            <a:spAutoFit/>
          </a:bodyPr>
          <a:lstStyle/>
          <a:p>
            <a:pPr algn="ctr">
              <a:lnSpc>
                <a:spcPts val="5616"/>
              </a:lnSpc>
            </a:pPr>
            <a:r>
              <a:rPr lang="en-US" sz="2925" i="true">
                <a:solidFill>
                  <a:srgbClr val="334155"/>
                </a:solidFill>
                <a:latin typeface="Montserrat Italics"/>
                <a:ea typeface="Montserrat Italics"/>
                <a:cs typeface="Montserrat Italics"/>
                <a:sym typeface="Montserrat Italics"/>
              </a:rPr>
              <a:t>"Con người không thể thắng thiên nhiên nếu đi ngược lại quy luật của nó. Xâm phạm môi trường sống của loài khác chính là tự rước lấy bi kịch bằng máu và nước mắt."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9259" r="0" b="-9259"/>
              </a:stretch>
            </a:blipFill>
          </p:spPr>
        </p:sp>
      </p:grpSp>
      <p:sp>
        <p:nvSpPr>
          <p:cNvPr name="TextBox 4" id="4"/>
          <p:cNvSpPr txBox="true"/>
          <p:nvPr/>
        </p:nvSpPr>
        <p:spPr>
          <a:xfrm rot="0">
            <a:off x="6773313" y="3871093"/>
            <a:ext cx="4741364" cy="1612011"/>
          </a:xfrm>
          <a:prstGeom prst="rect">
            <a:avLst/>
          </a:prstGeom>
        </p:spPr>
        <p:txBody>
          <a:bodyPr anchor="t" rtlCol="false" tIns="0" lIns="0" bIns="0" rIns="0">
            <a:spAutoFit/>
          </a:bodyPr>
          <a:lstStyle/>
          <a:p>
            <a:pPr algn="ctr">
              <a:lnSpc>
                <a:spcPts val="12177"/>
              </a:lnSpc>
            </a:pPr>
            <a:r>
              <a:rPr lang="en-US" sz="9225" b="true">
                <a:solidFill>
                  <a:srgbClr val="2D5A27"/>
                </a:solidFill>
                <a:latin typeface="Playfair Display Bold"/>
                <a:ea typeface="Playfair Display Bold"/>
                <a:cs typeface="Playfair Display Bold"/>
                <a:sym typeface="Playfair Display Bold"/>
              </a:rPr>
              <a:t>CẢM 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DAHCoCuA4Pw</dc:identifier>
  <dcterms:modified xsi:type="dcterms:W3CDTF">2011-08-01T06:04:30Z</dcterms:modified>
  <cp:revision>1</cp:revision>
</cp:coreProperties>
</file>